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0a+o2YOLNAc8wVZXKd+LuCZqD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chemeClr val="lt1"/>
            </a:gs>
            <a:gs pos="100000">
              <a:srgbClr val="9E9E9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/>
          <p:nvPr/>
        </p:nvSpPr>
        <p:spPr>
          <a:xfrm flipH="1">
            <a:off x="2667000" y="0"/>
            <a:ext cx="6477000" cy="5143500"/>
          </a:xfrm>
          <a:prstGeom prst="rect">
            <a:avLst/>
          </a:prstGeom>
          <a:blipFill rotWithShape="1">
            <a:blip r:embed="rId2">
              <a:alphaModFix amt="43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8" name="Google Shape;18;p20"/>
          <p:cNvCxnSpPr/>
          <p:nvPr/>
        </p:nvCxnSpPr>
        <p:spPr>
          <a:xfrm rot="-5400000">
            <a:off x="95250" y="2571750"/>
            <a:ext cx="5143500" cy="0"/>
          </a:xfrm>
          <a:prstGeom prst="straightConnector1">
            <a:avLst/>
          </a:prstGeom>
          <a:noFill/>
          <a:ln cap="flat" cmpd="sng" w="11425">
            <a:solidFill>
              <a:srgbClr val="F9F9F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" name="Google Shape;19;p20"/>
          <p:cNvSpPr txBox="1"/>
          <p:nvPr>
            <p:ph type="ctrTitle"/>
          </p:nvPr>
        </p:nvSpPr>
        <p:spPr>
          <a:xfrm>
            <a:off x="3366868" y="400050"/>
            <a:ext cx="5105400" cy="21511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4200"/>
              <a:buFont typeface="Trebuchet MS"/>
              <a:buNone/>
              <a:defRPr b="1"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subTitle"/>
          </p:nvPr>
        </p:nvSpPr>
        <p:spPr>
          <a:xfrm>
            <a:off x="3354442" y="2654898"/>
            <a:ext cx="5114778" cy="825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606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0" type="dt"/>
          </p:nvPr>
        </p:nvSpPr>
        <p:spPr>
          <a:xfrm>
            <a:off x="5871224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1" type="ftr"/>
          </p:nvPr>
        </p:nvSpPr>
        <p:spPr>
          <a:xfrm>
            <a:off x="2819400" y="4918460"/>
            <a:ext cx="2927722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7880884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" type="body"/>
          </p:nvPr>
        </p:nvSpPr>
        <p:spPr>
          <a:xfrm>
            <a:off x="457200" y="1207062"/>
            <a:ext cx="723900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039" lvl="0" marL="457200" algn="l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indent="-320040" lvl="1" marL="914400" algn="l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indent="-297180" lvl="2" marL="1371600" algn="l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indent="-320040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indent="-308610" lvl="4" marL="2286000" algn="l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1066800" y="2116378"/>
            <a:ext cx="6255488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4200"/>
              <a:buFont typeface="Trebuchet MS"/>
              <a:buNone/>
              <a:defRPr b="1" sz="4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1066800" y="1428751"/>
            <a:ext cx="6255488" cy="5576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46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9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4724238" y="4917607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1735358" y="4917608"/>
            <a:ext cx="2895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6733952" y="4916334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457200" y="240030"/>
            <a:ext cx="72420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457200" y="1200151"/>
            <a:ext cx="352044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394" lvl="0" marL="457200" algn="l">
              <a:spcBef>
                <a:spcPts val="600"/>
              </a:spcBef>
              <a:spcAft>
                <a:spcPts val="0"/>
              </a:spcAft>
              <a:buSzPts val="2044"/>
              <a:buChar char="⦿"/>
              <a:defRPr sz="2800"/>
            </a:lvl1pPr>
            <a:lvl2pPr indent="-350520" lvl="1" marL="914400" algn="l">
              <a:spcBef>
                <a:spcPts val="500"/>
              </a:spcBef>
              <a:spcAft>
                <a:spcPts val="0"/>
              </a:spcAft>
              <a:buSzPts val="1920"/>
              <a:buChar char="◼"/>
              <a:defRPr sz="2400"/>
            </a:lvl2pPr>
            <a:lvl3pPr indent="-304800" lvl="2" marL="1371600" algn="l">
              <a:spcBef>
                <a:spcPts val="400"/>
              </a:spcBef>
              <a:spcAft>
                <a:spcPts val="0"/>
              </a:spcAft>
              <a:buSzPts val="1200"/>
              <a:buChar char="🞆"/>
              <a:defRPr sz="2000"/>
            </a:lvl3pPr>
            <a:lvl4pPr indent="-320040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 sz="1800"/>
            </a:lvl4pPr>
            <a:lvl5pPr indent="-308610" lvl="4" marL="2286000" algn="l">
              <a:spcBef>
                <a:spcPts val="400"/>
              </a:spcBef>
              <a:spcAft>
                <a:spcPts val="0"/>
              </a:spcAft>
              <a:buSzPts val="1260"/>
              <a:buChar char="◉"/>
              <a:defRPr sz="1800"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178808" y="1200151"/>
            <a:ext cx="352044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8394" lvl="0" marL="457200" algn="l">
              <a:spcBef>
                <a:spcPts val="600"/>
              </a:spcBef>
              <a:spcAft>
                <a:spcPts val="0"/>
              </a:spcAft>
              <a:buSzPts val="2044"/>
              <a:buChar char="⦿"/>
              <a:defRPr sz="2800"/>
            </a:lvl1pPr>
            <a:lvl2pPr indent="-350520" lvl="1" marL="914400" algn="l">
              <a:spcBef>
                <a:spcPts val="500"/>
              </a:spcBef>
              <a:spcAft>
                <a:spcPts val="0"/>
              </a:spcAft>
              <a:buSzPts val="1920"/>
              <a:buChar char="◼"/>
              <a:defRPr sz="2400"/>
            </a:lvl2pPr>
            <a:lvl3pPr indent="-304800" lvl="2" marL="1371600" algn="l">
              <a:spcBef>
                <a:spcPts val="400"/>
              </a:spcBef>
              <a:spcAft>
                <a:spcPts val="0"/>
              </a:spcAft>
              <a:buSzPts val="1200"/>
              <a:buChar char="🞆"/>
              <a:defRPr sz="2000"/>
            </a:lvl3pPr>
            <a:lvl4pPr indent="-320040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 sz="1800"/>
            </a:lvl4pPr>
            <a:lvl5pPr indent="-308610" lvl="4" marL="2286000" algn="l">
              <a:spcBef>
                <a:spcPts val="400"/>
              </a:spcBef>
              <a:spcAft>
                <a:spcPts val="0"/>
              </a:spcAft>
              <a:buSzPts val="1260"/>
              <a:buChar char="◉"/>
              <a:defRPr sz="1800"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/>
          <p:nvPr>
            <p:ph type="title"/>
          </p:nvPr>
        </p:nvSpPr>
        <p:spPr>
          <a:xfrm>
            <a:off x="457200" y="240030"/>
            <a:ext cx="72420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457200" y="4400550"/>
            <a:ext cx="3520440" cy="3429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1314"/>
              <a:buNone/>
              <a:defRPr b="1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80"/>
              <a:buNone/>
              <a:defRPr b="1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2" type="body"/>
          </p:nvPr>
        </p:nvSpPr>
        <p:spPr>
          <a:xfrm>
            <a:off x="4178808" y="4400550"/>
            <a:ext cx="3520440" cy="3429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1314"/>
              <a:buNone/>
              <a:defRPr b="1" sz="1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80"/>
              <a:buNone/>
              <a:defRPr b="1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80"/>
              <a:buNone/>
              <a:defRPr b="1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3" type="body"/>
          </p:nvPr>
        </p:nvSpPr>
        <p:spPr>
          <a:xfrm>
            <a:off x="457200" y="1283880"/>
            <a:ext cx="352044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852" lvl="0" marL="457200" algn="l">
              <a:spcBef>
                <a:spcPts val="600"/>
              </a:spcBef>
              <a:spcAft>
                <a:spcPts val="0"/>
              </a:spcAft>
              <a:buSzPts val="1752"/>
              <a:buChar char="⦿"/>
              <a:defRPr sz="2400"/>
            </a:lvl1pPr>
            <a:lvl2pPr indent="-330200" lvl="1" marL="914400" algn="l">
              <a:spcBef>
                <a:spcPts val="500"/>
              </a:spcBef>
              <a:spcAft>
                <a:spcPts val="0"/>
              </a:spcAft>
              <a:buSzPts val="1600"/>
              <a:buChar char="◼"/>
              <a:defRPr sz="2000"/>
            </a:lvl2pPr>
            <a:lvl3pPr indent="-297180" lvl="2" marL="1371600" algn="l">
              <a:spcBef>
                <a:spcPts val="400"/>
              </a:spcBef>
              <a:spcAft>
                <a:spcPts val="0"/>
              </a:spcAft>
              <a:buSzPts val="1080"/>
              <a:buChar char="🞆"/>
              <a:defRPr sz="1800"/>
            </a:lvl3pPr>
            <a:lvl4pPr indent="-309880" lvl="3" marL="1828800" algn="l">
              <a:spcBef>
                <a:spcPts val="320"/>
              </a:spcBef>
              <a:spcAft>
                <a:spcPts val="0"/>
              </a:spcAft>
              <a:buSzPts val="1280"/>
              <a:buChar char="⚫"/>
              <a:defRPr sz="1600"/>
            </a:lvl4pPr>
            <a:lvl5pPr indent="-299720" lvl="4" marL="2286000" algn="l">
              <a:spcBef>
                <a:spcPts val="400"/>
              </a:spcBef>
              <a:spcAft>
                <a:spcPts val="0"/>
              </a:spcAft>
              <a:buSzPts val="1120"/>
              <a:buChar char="◉"/>
              <a:defRPr sz="1600"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4" type="body"/>
          </p:nvPr>
        </p:nvSpPr>
        <p:spPr>
          <a:xfrm>
            <a:off x="4178808" y="1283880"/>
            <a:ext cx="352044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852" lvl="0" marL="457200" algn="l">
              <a:spcBef>
                <a:spcPts val="600"/>
              </a:spcBef>
              <a:spcAft>
                <a:spcPts val="0"/>
              </a:spcAft>
              <a:buSzPts val="1752"/>
              <a:buChar char="⦿"/>
              <a:defRPr sz="2400"/>
            </a:lvl1pPr>
            <a:lvl2pPr indent="-330200" lvl="1" marL="914400" algn="l">
              <a:spcBef>
                <a:spcPts val="500"/>
              </a:spcBef>
              <a:spcAft>
                <a:spcPts val="0"/>
              </a:spcAft>
              <a:buSzPts val="1600"/>
              <a:buChar char="◼"/>
              <a:defRPr sz="2000"/>
            </a:lvl2pPr>
            <a:lvl3pPr indent="-297180" lvl="2" marL="1371600" algn="l">
              <a:spcBef>
                <a:spcPts val="400"/>
              </a:spcBef>
              <a:spcAft>
                <a:spcPts val="0"/>
              </a:spcAft>
              <a:buSzPts val="1080"/>
              <a:buChar char="🞆"/>
              <a:defRPr sz="1800"/>
            </a:lvl3pPr>
            <a:lvl4pPr indent="-309880" lvl="3" marL="1828800" algn="l">
              <a:spcBef>
                <a:spcPts val="320"/>
              </a:spcBef>
              <a:spcAft>
                <a:spcPts val="0"/>
              </a:spcAft>
              <a:buSzPts val="1280"/>
              <a:buChar char="⚫"/>
              <a:defRPr sz="1600"/>
            </a:lvl4pPr>
            <a:lvl5pPr indent="-299720" lvl="4" marL="2286000" algn="l">
              <a:spcBef>
                <a:spcPts val="400"/>
              </a:spcBef>
              <a:spcAft>
                <a:spcPts val="0"/>
              </a:spcAft>
              <a:buSzPts val="1120"/>
              <a:buChar char="◉"/>
              <a:defRPr sz="1600"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457200" y="240030"/>
            <a:ext cx="72420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457200" y="171450"/>
            <a:ext cx="5897880" cy="8801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57200" y="1123062"/>
            <a:ext cx="5897880" cy="451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022"/>
              <a:buNone/>
              <a:defRPr sz="1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6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457200" y="1600200"/>
            <a:ext cx="7239000" cy="3278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6936" lvl="0" marL="457200" algn="l">
              <a:spcBef>
                <a:spcPts val="600"/>
              </a:spcBef>
              <a:spcAft>
                <a:spcPts val="0"/>
              </a:spcAft>
              <a:buSzPts val="2336"/>
              <a:buChar char="⦿"/>
              <a:defRPr sz="3200"/>
            </a:lvl1pPr>
            <a:lvl2pPr indent="-370840" lvl="1" marL="914400" algn="l">
              <a:spcBef>
                <a:spcPts val="500"/>
              </a:spcBef>
              <a:spcAft>
                <a:spcPts val="0"/>
              </a:spcAft>
              <a:buSzPts val="2240"/>
              <a:buChar char="◼"/>
              <a:defRPr sz="2800"/>
            </a:lvl2pPr>
            <a:lvl3pPr indent="-320040" lvl="2" marL="1371600" algn="l">
              <a:spcBef>
                <a:spcPts val="400"/>
              </a:spcBef>
              <a:spcAft>
                <a:spcPts val="0"/>
              </a:spcAft>
              <a:buSzPts val="1440"/>
              <a:buChar char="🞆"/>
              <a:defRPr sz="2400"/>
            </a:lvl3pPr>
            <a:lvl4pPr indent="-330200" lvl="3" marL="1828800" algn="l">
              <a:spcBef>
                <a:spcPts val="400"/>
              </a:spcBef>
              <a:spcAft>
                <a:spcPts val="0"/>
              </a:spcAft>
              <a:buSzPts val="1600"/>
              <a:buChar char="⚫"/>
              <a:defRPr sz="2000"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SzPts val="1400"/>
              <a:buChar char="◉"/>
              <a:defRPr sz="2000"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rgbClr val="E965C8"/>
            </a:gs>
            <a:gs pos="100000">
              <a:srgbClr val="8013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/>
          <p:nvPr/>
        </p:nvSpPr>
        <p:spPr>
          <a:xfrm rot="-360000">
            <a:off x="597969" y="753501"/>
            <a:ext cx="4319527" cy="3234430"/>
          </a:xfrm>
          <a:prstGeom prst="rect">
            <a:avLst/>
          </a:prstGeom>
          <a:solidFill>
            <a:srgbClr val="FAFAFA"/>
          </a:solidFill>
          <a:ln cap="rnd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  <a:effectLst>
            <a:outerShdw blurRad="25000" rotWithShape="0" algn="t" dir="54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28"/>
          <p:cNvSpPr/>
          <p:nvPr/>
        </p:nvSpPr>
        <p:spPr>
          <a:xfrm rot="-180000">
            <a:off x="596706" y="749112"/>
            <a:ext cx="4319527" cy="3234430"/>
          </a:xfrm>
          <a:prstGeom prst="rect">
            <a:avLst/>
          </a:prstGeom>
          <a:solidFill>
            <a:srgbClr val="FAFAFA"/>
          </a:solidFill>
          <a:ln cap="rnd" cmpd="sng" w="9525">
            <a:solidFill>
              <a:srgbClr val="EAEAEA"/>
            </a:solidFill>
            <a:prstDash val="solid"/>
            <a:round/>
            <a:headEnd len="sm" w="sm" type="none"/>
            <a:tailEnd len="sm" w="sm" type="none"/>
          </a:ln>
          <a:effectLst>
            <a:outerShdw blurRad="28000" rotWithShape="0" algn="tl" dir="54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28"/>
          <p:cNvSpPr txBox="1"/>
          <p:nvPr>
            <p:ph type="title"/>
          </p:nvPr>
        </p:nvSpPr>
        <p:spPr>
          <a:xfrm>
            <a:off x="5389098" y="857250"/>
            <a:ext cx="34290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000"/>
              <a:buFont typeface="Trebuchet MS"/>
              <a:buNone/>
              <a:defRPr b="1" sz="3000">
                <a:solidFill>
                  <a:srgbClr val="FEF7F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" type="body"/>
          </p:nvPr>
        </p:nvSpPr>
        <p:spPr>
          <a:xfrm>
            <a:off x="5389098" y="2462726"/>
            <a:ext cx="34290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22"/>
              <a:buFont typeface="Trebuchet MS"/>
              <a:buNone/>
              <a:defRPr sz="1400">
                <a:solidFill>
                  <a:schemeClr val="lt1"/>
                </a:solidFill>
              </a:defRPr>
            </a:lvl1pPr>
            <a:lvl2pPr indent="-289560" lvl="1" marL="914400" algn="l">
              <a:spcBef>
                <a:spcPts val="500"/>
              </a:spcBef>
              <a:spcAft>
                <a:spcPts val="0"/>
              </a:spcAft>
              <a:buSzPts val="960"/>
              <a:buChar char="◼"/>
              <a:defRPr sz="1200"/>
            </a:lvl2pPr>
            <a:lvl3pPr indent="-266700" lvl="2" marL="1371600" algn="l">
              <a:spcBef>
                <a:spcPts val="400"/>
              </a:spcBef>
              <a:spcAft>
                <a:spcPts val="0"/>
              </a:spcAft>
              <a:buSzPts val="600"/>
              <a:buChar char="🞆"/>
              <a:defRPr sz="1000"/>
            </a:lvl3pPr>
            <a:lvl4pPr indent="-274320" lvl="3" marL="1828800" algn="l">
              <a:spcBef>
                <a:spcPts val="18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68605" lvl="4" marL="2286000" algn="l">
              <a:spcBef>
                <a:spcPts val="400"/>
              </a:spcBef>
              <a:spcAft>
                <a:spcPts val="0"/>
              </a:spcAft>
              <a:buSzPts val="630"/>
              <a:buChar char="◉"/>
              <a:defRPr sz="900"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p28"/>
          <p:cNvSpPr/>
          <p:nvPr>
            <p:ph idx="2" type="pic"/>
          </p:nvPr>
        </p:nvSpPr>
        <p:spPr>
          <a:xfrm>
            <a:off x="663682" y="780752"/>
            <a:ext cx="4206240" cy="3154680"/>
          </a:xfrm>
          <a:prstGeom prst="rect">
            <a:avLst/>
          </a:prstGeom>
          <a:solidFill>
            <a:srgbClr val="812D70"/>
          </a:solidFill>
          <a:ln cap="flat" cmpd="sng" w="1079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4450" rotWithShape="0" algn="tl" dir="5400000" dist="3810">
              <a:srgbClr val="000000">
                <a:alpha val="60000"/>
              </a:srgbClr>
            </a:outerShdw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" type="body"/>
          </p:nvPr>
        </p:nvSpPr>
        <p:spPr>
          <a:xfrm rot="5400000">
            <a:off x="2259330" y="-595068"/>
            <a:ext cx="3634740" cy="7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039" lvl="0" marL="457200" algn="l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indent="-320040" lvl="1" marL="914400" algn="l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indent="-297180" lvl="2" marL="1371600" algn="l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indent="-320040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indent="-308610" lvl="4" marL="2286000" algn="l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 rot="5400000">
            <a:off x="5120878" y="1638539"/>
            <a:ext cx="4388644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body"/>
          </p:nvPr>
        </p:nvSpPr>
        <p:spPr>
          <a:xfrm rot="5400000">
            <a:off x="1272778" y="-609596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039" lvl="0" marL="457200" algn="l">
              <a:spcBef>
                <a:spcPts val="600"/>
              </a:spcBef>
              <a:spcAft>
                <a:spcPts val="0"/>
              </a:spcAft>
              <a:buSzPts val="1314"/>
              <a:buChar char="⦿"/>
              <a:defRPr/>
            </a:lvl1pPr>
            <a:lvl2pPr indent="-320040" lvl="1" marL="914400" algn="l">
              <a:spcBef>
                <a:spcPts val="500"/>
              </a:spcBef>
              <a:spcAft>
                <a:spcPts val="0"/>
              </a:spcAft>
              <a:buSzPts val="1440"/>
              <a:buChar char="◼"/>
              <a:defRPr/>
            </a:lvl2pPr>
            <a:lvl3pPr indent="-297180" lvl="2" marL="1371600" algn="l">
              <a:spcBef>
                <a:spcPts val="400"/>
              </a:spcBef>
              <a:spcAft>
                <a:spcPts val="0"/>
              </a:spcAft>
              <a:buSzPts val="1080"/>
              <a:buChar char="🞆"/>
              <a:defRPr/>
            </a:lvl3pPr>
            <a:lvl4pPr indent="-320040" lvl="3" marL="18288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4pPr>
            <a:lvl5pPr indent="-308610" lvl="4" marL="2286000" algn="l">
              <a:spcBef>
                <a:spcPts val="400"/>
              </a:spcBef>
              <a:spcAft>
                <a:spcPts val="0"/>
              </a:spcAft>
              <a:buSzPts val="1260"/>
              <a:buChar char="◉"/>
              <a:defRPr/>
            </a:lvl5pPr>
            <a:lvl6pPr indent="-320040" lvl="5" marL="2743200" algn="l">
              <a:spcBef>
                <a:spcPts val="40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◼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424281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457200" y="4917186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6254496" y="4914900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 flipH="1">
            <a:off x="8153400" y="0"/>
            <a:ext cx="990600" cy="5143500"/>
          </a:xfrm>
          <a:prstGeom prst="rect">
            <a:avLst/>
          </a:prstGeom>
          <a:blipFill rotWithShape="1">
            <a:blip r:embed="rId1">
              <a:alphaModFix amt="43000"/>
            </a:blip>
            <a:tile algn="tl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" name="Google Shape;11;p19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3800"/>
              <a:buFont typeface="Trebuchet MS"/>
              <a:buNone/>
              <a:defRPr b="1" i="0" sz="3800" u="none" cap="none" strike="noStrike">
                <a:solidFill>
                  <a:srgbClr val="FEF7F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457200" y="1207062"/>
            <a:ext cx="723900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123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98"/>
              <a:buFont typeface="Noto Sans Symbols"/>
              <a:buChar char="⦿"/>
              <a:defRPr b="0" i="0" sz="2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4544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40"/>
              <a:buFont typeface="Noto Sans Symbols"/>
              <a:buChar char="◼"/>
              <a:defRPr b="0" i="0" sz="2300" u="none" cap="none" strike="noStrik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0861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60"/>
              <a:buFont typeface="Noto Sans Symbols"/>
              <a:buChar char="◉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2004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0988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◼"/>
              <a:defRPr b="0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302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Trebuchet MS"/>
              <a:buChar char="•"/>
              <a:defRPr b="0" i="0" sz="1600" u="none" cap="none" strike="noStrike">
                <a:solidFill>
                  <a:srgbClr val="6C6C6C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0" type="dt"/>
          </p:nvPr>
        </p:nvSpPr>
        <p:spPr>
          <a:xfrm>
            <a:off x="4245936" y="4918459"/>
            <a:ext cx="2002464" cy="1701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1" type="ftr"/>
          </p:nvPr>
        </p:nvSpPr>
        <p:spPr>
          <a:xfrm>
            <a:off x="457200" y="491846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6251448" y="4917186"/>
            <a:ext cx="588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3366868" y="400050"/>
            <a:ext cx="5105400" cy="21511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EF7F0"/>
              </a:buClr>
              <a:buSzPts val="4200"/>
              <a:buFont typeface="Trebuchet MS"/>
              <a:buNone/>
            </a:pPr>
            <a:r>
              <a:rPr lang="en-IN"/>
              <a:t>ENGINEERING CHEMISTRY - II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3354442" y="2654898"/>
            <a:ext cx="5114778" cy="1042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68"/>
              <a:buNone/>
            </a:pPr>
            <a:r>
              <a:rPr b="1" lang="en-IN" sz="1600"/>
              <a:t>22CH203</a:t>
            </a:r>
            <a:endParaRPr/>
          </a:p>
          <a:p>
            <a:pPr indent="0" lvl="0" marL="0" rtl="0" algn="r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168"/>
              <a:buNone/>
            </a:pPr>
            <a:r>
              <a:rPr b="1" lang="en-IN" sz="1600"/>
              <a:t>Unit 5 – Lesson Plan 1</a:t>
            </a:r>
            <a:endParaRPr b="1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CHARACTERISTICS OF A CHEMICAL REACTION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Rearrangement of outer electrons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No new elements are formed. New compounds are produced by rearrangement of elements.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Small amount of energy is released (Exothermic) or absorbed (Endothermic)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Rate of the reaction depends on concentration and external factors like temperature, pressure and catalyst.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CHARACTERISTICS OF A NUCLEAR REACTION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Change in composition of nucleus.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New elements are formed. 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Huge amount of energy is released or absorbed.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800">
                <a:latin typeface="Arial"/>
                <a:ea typeface="Arial"/>
                <a:cs typeface="Arial"/>
                <a:sym typeface="Arial"/>
              </a:rPr>
              <a:t>Rate of the reaction does not depend on concentration and external factors like temperature, pressure and catalyst.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457200" y="-172634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RADIOACTIVITY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457200" y="794398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52"/>
              <a:buChar char="⦿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In 1896, Henry Becquerel found that atoms could be radioactive.</a:t>
            </a:r>
            <a:endParaRPr/>
          </a:p>
          <a:p>
            <a:pPr indent="-144526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044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  <p:sp>
        <p:nvSpPr>
          <p:cNvPr descr="Physicist Page - Henri Becquerel: The discovery of radioactivity. On 12  June 1901, the french physicist Henri Becquerel was doing a demonstration  at the academy of sciences of Paris for a new" id="116" name="Google Shape;116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descr="Henri Becquerel - Wikipedia" id="117" name="Google Shape;117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2198" y="1643056"/>
            <a:ext cx="17907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0166" y="2000246"/>
            <a:ext cx="3006032" cy="242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5715008" y="4214824"/>
            <a:ext cx="26432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Henry Becquerel</a:t>
            </a:r>
            <a:endParaRPr b="1"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438252" y="4568267"/>
            <a:ext cx="34290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Image on photographic plate due to radioactive emission from uranium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RADIOACTIVE DECAY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3000"/>
              <a:buChar char="⦿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The spontaneous change of an unstable nuclide into another is radioactive decay.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Example: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6444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6444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6444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96444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The alpha particle removes two protons (green) and two neutrons (gray) from the uranium-238 nucleus</a:t>
            </a:r>
            <a:endParaRPr/>
          </a:p>
        </p:txBody>
      </p:sp>
      <p:sp>
        <p:nvSpPr>
          <p:cNvPr id="128" name="Google Shape;128;p5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56" y="2000246"/>
            <a:ext cx="4719637" cy="1773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ISOTOPES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52"/>
              <a:buChar char="⦿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 The term “isotope” mainly refers to the </a:t>
            </a:r>
            <a:r>
              <a:rPr lang="en-I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variation in the atomic mass or weight 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of an element. 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752"/>
              <a:buChar char="⦿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It is also defined as variants of a particular element where these variants will have </a:t>
            </a:r>
            <a:r>
              <a:rPr lang="en-I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same number of protons but differ in the number of neutrons </a:t>
            </a:r>
            <a:r>
              <a:rPr lang="en-IN" sz="2400">
                <a:latin typeface="Arial"/>
                <a:ea typeface="Arial"/>
                <a:cs typeface="Arial"/>
                <a:sym typeface="Arial"/>
              </a:rPr>
              <a:t>in the atom.</a:t>
            </a:r>
            <a:endParaRPr/>
          </a:p>
        </p:txBody>
      </p:sp>
      <p:sp>
        <p:nvSpPr>
          <p:cNvPr id="136" name="Google Shape;136;p6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ISOTOPES - HYDROGEN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42" name="Google Shape;142;p7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  <p:pic>
        <p:nvPicPr>
          <p:cNvPr id="143" name="Google Shape;14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290" y="1500179"/>
            <a:ext cx="5929354" cy="252372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142844" y="4559872"/>
            <a:ext cx="82153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Number of neutrons = Mass number – atomic number (number of protons)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357290" y="3929072"/>
            <a:ext cx="450059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Abundance 99.98%</a:t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ISOTOPES - CARBON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51" name="Google Shape;151;p8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  <p:pic>
        <p:nvPicPr>
          <p:cNvPr id="152" name="Google Shape;15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04" y="1214428"/>
            <a:ext cx="5000660" cy="377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ISOTOPES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Tin has 22 isotopes,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Zinc has 21 known isotopes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Neon is a mix of 3 isotopes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Natural xenon consists of a mixture of 9 stable isotopes and 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Nickel has 14 known isotopes</a:t>
            </a:r>
            <a:endParaRPr/>
          </a:p>
        </p:txBody>
      </p:sp>
      <p:sp>
        <p:nvSpPr>
          <p:cNvPr id="159" name="Google Shape;159;p9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ENERGY RELEASED IN NUCLEAR REACTIONS</a:t>
            </a:r>
            <a:endParaRPr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Energy released in a nuclear reaction is equal to the mass loss during the reaction (E=mc</a:t>
            </a:r>
            <a:r>
              <a:rPr baseline="30000" lang="en-IN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162836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Total mass of reactant =8.1678 and of product = 8.0052.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Mass lost =0.1626 amu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62836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62836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88" y="2427734"/>
            <a:ext cx="5991609" cy="72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ENERGY RELEASED IN NUCLEAR REACTIONS</a:t>
            </a:r>
            <a:endParaRPr/>
          </a:p>
        </p:txBody>
      </p:sp>
      <p:sp>
        <p:nvSpPr>
          <p:cNvPr id="173" name="Google Shape;173;p11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98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Mass lost =0.1626 amu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53797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98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Energy release for the mass loss of 0.1626 amu:</a:t>
            </a:r>
            <a:endParaRPr/>
          </a:p>
          <a:p>
            <a:pPr indent="-153797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53797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  <p:pic>
        <p:nvPicPr>
          <p:cNvPr id="175" name="Google Shape;1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88" y="1923678"/>
            <a:ext cx="5991609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8050" y="3329533"/>
            <a:ext cx="224790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MASS DEFECT (∆M) </a:t>
            </a:r>
            <a:endParaRPr/>
          </a:p>
        </p:txBody>
      </p:sp>
      <p:sp>
        <p:nvSpPr>
          <p:cNvPr id="182" name="Google Shape;182;p12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98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Mass defect may be defined as the difference between the mass of an atom and sum of the free masses of its protons and neutrons (collectively known as nucleons).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MASS DEFECT (∆M) - HELIUM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 mass defect of helium atom having two protons (mass of one proton = 1.00815 amu) and two neutrons (mass of one neutron = 1.00899 amu) with the measured mass of 4.0026 is calculated as follows: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Total expected mass of helium = 2 x 1.00815 + 2 x 1.00899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				= 2.0163 + 2.01798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730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				= 4.03428 amu.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BINDING ENERGY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196" name="Google Shape;196;p14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 binding energy is a measure of the </a:t>
            </a:r>
            <a:r>
              <a:rPr lang="en-I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force that holds the nucleons 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(protons and neutrons) together.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 energy that binds the nucleons together in a nucleus is called the binding energy.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 binding energy is usually </a:t>
            </a:r>
            <a:r>
              <a:rPr lang="en-I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expressed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in terms of million electron volts (</a:t>
            </a:r>
            <a:r>
              <a:rPr lang="en-I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MeV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).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In other words, energy equal to binding energy will be needed to break up the nucleus into its constituent nucleons.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73000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Consequently, </a:t>
            </a:r>
            <a:r>
              <a:rPr lang="en-I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greater is the binding energy, the more stable is the nucleus</a:t>
            </a:r>
            <a:endParaRPr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BINDING ENERGY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203" name="Google Shape;203;p15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898"/>
              <a:buChar char="⦿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Binding energy is the energy equivalent to the mass defect. Mathematically, the binding energy (E</a:t>
            </a:r>
            <a:r>
              <a:rPr baseline="-25000" lang="en-IN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) and the mass defect (∆m) are related as follows:</a:t>
            </a:r>
            <a:endParaRPr/>
          </a:p>
          <a:p>
            <a:pPr indent="0" lvl="0" marL="0" rtl="0" algn="ctr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98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E</a:t>
            </a:r>
            <a:r>
              <a:rPr baseline="-25000" lang="en-IN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 = ∆m x 931 Mev </a:t>
            </a:r>
            <a:endParaRPr/>
          </a:p>
        </p:txBody>
      </p:sp>
      <p:sp>
        <p:nvSpPr>
          <p:cNvPr id="204" name="Google Shape;204;p15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/>
          <p:nvPr>
            <p:ph type="title"/>
          </p:nvPr>
        </p:nvSpPr>
        <p:spPr>
          <a:xfrm>
            <a:off x="457200" y="240030"/>
            <a:ext cx="723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800"/>
              <a:buFont typeface="Trebuchet MS"/>
              <a:buNone/>
            </a:pPr>
            <a:r>
              <a:rPr lang="en-IN">
                <a:solidFill>
                  <a:srgbClr val="00B0F0"/>
                </a:solidFill>
              </a:rPr>
              <a:t>BINDING ENERGY</a:t>
            </a:r>
            <a:endParaRPr>
              <a:solidFill>
                <a:srgbClr val="00B0F0"/>
              </a:solidFill>
            </a:endParaRPr>
          </a:p>
        </p:txBody>
      </p:sp>
      <p:sp>
        <p:nvSpPr>
          <p:cNvPr id="210" name="Google Shape;210;p16"/>
          <p:cNvSpPr txBox="1"/>
          <p:nvPr>
            <p:ph idx="1" type="body"/>
          </p:nvPr>
        </p:nvSpPr>
        <p:spPr>
          <a:xfrm>
            <a:off x="457200" y="1207062"/>
            <a:ext cx="761526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752"/>
              <a:buChar char="⦿"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Binding energy per nucleon can be calculated by dividing the total binding energy by the sum of the number of protons and neutrons present in a nucleus, i.e.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 txBox="1"/>
          <p:nvPr>
            <p:ph idx="11" type="ftr"/>
          </p:nvPr>
        </p:nvSpPr>
        <p:spPr>
          <a:xfrm>
            <a:off x="4495800" y="4972050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Dr Rameshkumar A/AP Chemistry</a:t>
            </a:r>
            <a:endParaRPr/>
          </a:p>
        </p:txBody>
      </p:sp>
      <p:pic>
        <p:nvPicPr>
          <p:cNvPr id="212" name="Google Shape;2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3291830"/>
            <a:ext cx="7191199" cy="100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251520" y="240030"/>
            <a:ext cx="79208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Arial"/>
              <a:buNone/>
            </a:pPr>
            <a:r>
              <a:rPr lang="en-IN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THE BINDING ENERGY AND THE STABILITY OF THE NUCLEUS</a:t>
            </a:r>
            <a:endParaRPr sz="3200">
              <a:solidFill>
                <a:srgbClr val="00B0F0"/>
              </a:solidFill>
            </a:endParaRPr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179512" y="987574"/>
            <a:ext cx="7848872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168"/>
              <a:buChar char="⦿"/>
            </a:pPr>
            <a:r>
              <a:rPr lang="en-IN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greater the binding energy per nucleon, the more stable is the nucleus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. Thus the nuclei of mass number 60 having maximum energy per nucleon are more stable, e.g.</a:t>
            </a:r>
            <a:r>
              <a:rPr baseline="30000" lang="en-IN" sz="1600">
                <a:latin typeface="Arial"/>
                <a:ea typeface="Arial"/>
                <a:cs typeface="Arial"/>
                <a:sym typeface="Arial"/>
              </a:rPr>
              <a:t>56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Fe.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168"/>
              <a:buChar char="⦿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The nuclei that are heavier and lighter than this have lower binding energies per nucleon and are less stable.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168"/>
              <a:buChar char="⦿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Thus </a:t>
            </a:r>
            <a:r>
              <a:rPr baseline="30000" lang="en-IN" sz="1600">
                <a:latin typeface="Arial"/>
                <a:ea typeface="Arial"/>
                <a:cs typeface="Arial"/>
                <a:sym typeface="Arial"/>
              </a:rPr>
              <a:t>235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U undergoes fission to give lighter and more stable isotopes such as </a:t>
            </a:r>
            <a:r>
              <a:rPr baseline="30000" lang="en-IN" sz="1600">
                <a:latin typeface="Arial"/>
                <a:ea typeface="Arial"/>
                <a:cs typeface="Arial"/>
                <a:sym typeface="Arial"/>
              </a:rPr>
              <a:t>139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Ba and </a:t>
            </a:r>
            <a:r>
              <a:rPr baseline="30000" lang="en-IN" sz="1600">
                <a:latin typeface="Arial"/>
                <a:ea typeface="Arial"/>
                <a:cs typeface="Arial"/>
                <a:sym typeface="Arial"/>
              </a:rPr>
              <a:t>94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Kr with the release of energy.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168"/>
              <a:buChar char="⦿"/>
            </a:pPr>
            <a:r>
              <a:rPr lang="en-IN" sz="1600">
                <a:latin typeface="Arial"/>
                <a:ea typeface="Arial"/>
                <a:cs typeface="Arial"/>
                <a:sym typeface="Arial"/>
              </a:rPr>
              <a:t>Similarly, two or more lighter nuclei (</a:t>
            </a:r>
            <a:r>
              <a:rPr baseline="30000" lang="en-IN" sz="16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H, </a:t>
            </a:r>
            <a:r>
              <a:rPr baseline="30000" lang="en-IN" sz="16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IN" sz="1600">
                <a:latin typeface="Arial"/>
                <a:ea typeface="Arial"/>
                <a:cs typeface="Arial"/>
                <a:sym typeface="Arial"/>
              </a:rPr>
              <a:t>H) with lower binding energy per nucleon combine together to give a heavier and more stable nucleus with the release of energy.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251520" y="240030"/>
            <a:ext cx="79208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Arial"/>
              <a:buNone/>
            </a:pPr>
            <a:r>
              <a:rPr lang="en-IN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THE BINDING ENERGY AND THE STABILITY OF THE NUCLEUS</a:t>
            </a:r>
            <a:endParaRPr sz="3200">
              <a:solidFill>
                <a:srgbClr val="00B0F0"/>
              </a:solidFill>
            </a:endParaRPr>
          </a:p>
        </p:txBody>
      </p:sp>
      <p:pic>
        <p:nvPicPr>
          <p:cNvPr id="224" name="Google Shape;224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720" y="1203598"/>
            <a:ext cx="4385697" cy="3151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pulent">
  <a:themeElements>
    <a:clrScheme name="Opulent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2020-12-21T10:35:25Z</dcterms:created>
  <dc:creator>trc</dc:creator>
</cp:coreProperties>
</file>