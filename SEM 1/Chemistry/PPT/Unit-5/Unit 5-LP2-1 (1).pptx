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23"/>
  </p:notesMasterIdLst>
  <p:sldIdLst>
    <p:sldId id="256" r:id="rId2"/>
    <p:sldId id="290" r:id="rId3"/>
    <p:sldId id="359" r:id="rId4"/>
    <p:sldId id="357" r:id="rId5"/>
    <p:sldId id="353" r:id="rId6"/>
    <p:sldId id="358" r:id="rId7"/>
    <p:sldId id="360" r:id="rId8"/>
    <p:sldId id="361" r:id="rId9"/>
    <p:sldId id="363" r:id="rId10"/>
    <p:sldId id="329" r:id="rId11"/>
    <p:sldId id="314" r:id="rId12"/>
    <p:sldId id="364" r:id="rId13"/>
    <p:sldId id="315" r:id="rId14"/>
    <p:sldId id="330" r:id="rId15"/>
    <p:sldId id="328" r:id="rId16"/>
    <p:sldId id="367" r:id="rId17"/>
    <p:sldId id="368" r:id="rId18"/>
    <p:sldId id="369" r:id="rId19"/>
    <p:sldId id="372" r:id="rId20"/>
    <p:sldId id="332" r:id="rId21"/>
    <p:sldId id="371"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1002" y="-180"/>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78032D-864A-4EB9-9DCF-4F8E0BF35B43}" type="datetimeFigureOut">
              <a:rPr lang="en-US" smtClean="0"/>
              <a:pPr/>
              <a:t>5/20/2025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3AF5D2-FC72-47CA-9A01-1D2294AB6E51}" type="slidenum">
              <a:rPr lang="en-IN" smtClean="0"/>
              <a:pPr/>
              <a:t>‹#›</a:t>
            </a:fld>
            <a:endParaRPr lang="en-IN"/>
          </a:p>
        </p:txBody>
      </p:sp>
    </p:spTree>
    <p:extLst>
      <p:ext uri="{BB962C8B-B14F-4D97-AF65-F5344CB8AC3E}">
        <p14:creationId xmlns:p14="http://schemas.microsoft.com/office/powerpoint/2010/main" xmlns="" val="358125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51435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95250" y="2571750"/>
            <a:ext cx="51435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400050"/>
            <a:ext cx="5105400" cy="2151126"/>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2654898"/>
            <a:ext cx="5114778" cy="825936"/>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4918459"/>
            <a:ext cx="2002464" cy="170177"/>
          </a:xfrm>
        </p:spPr>
        <p:txBody>
          <a:bodyPr/>
          <a:lstStyle>
            <a:lvl1pPr>
              <a:defRPr lang="en-US" smtClean="0">
                <a:solidFill>
                  <a:srgbClr val="FFFFFF"/>
                </a:solidFill>
              </a:defRPr>
            </a:lvl1pPr>
            <a:extLst/>
          </a:lstStyle>
          <a:p>
            <a:fld id="{BF0DE94B-9ECB-4479-B6C6-6ED3999FA8C4}" type="datetimeFigureOut">
              <a:rPr lang="en-US" smtClean="0"/>
              <a:pPr/>
              <a:t>5/20/2025</a:t>
            </a:fld>
            <a:endParaRPr lang="en-US"/>
          </a:p>
        </p:txBody>
      </p:sp>
      <p:sp>
        <p:nvSpPr>
          <p:cNvPr id="18" name="Footer Placeholder 17"/>
          <p:cNvSpPr>
            <a:spLocks noGrp="1"/>
          </p:cNvSpPr>
          <p:nvPr>
            <p:ph type="ftr" sz="quarter" idx="11"/>
          </p:nvPr>
        </p:nvSpPr>
        <p:spPr>
          <a:xfrm>
            <a:off x="2819400" y="4918460"/>
            <a:ext cx="2927722" cy="17145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4917186"/>
            <a:ext cx="588336" cy="171450"/>
          </a:xfrm>
        </p:spPr>
        <p:txBody>
          <a:bodyPr/>
          <a:lstStyle>
            <a:lvl1pPr>
              <a:defRPr lang="en-US" smtClean="0">
                <a:solidFill>
                  <a:srgbClr val="FFFFFF"/>
                </a:solidFill>
              </a:defRPr>
            </a:lvl1pPr>
            <a:extLst/>
          </a:lstStyle>
          <a:p>
            <a:fld id="{E004422E-EDD2-4B0B-A52B-28308297B27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0DE94B-9ECB-4479-B6C6-6ED3999FA8C4}"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116378"/>
            <a:ext cx="6255488" cy="1021556"/>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428751"/>
            <a:ext cx="6255488" cy="557630"/>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4917607"/>
            <a:ext cx="2002464" cy="170177"/>
          </a:xfrm>
        </p:spPr>
        <p:txBody>
          <a:bodyPr bIns="0" anchor="b"/>
          <a:lstStyle>
            <a:lvl1pPr>
              <a:defRPr>
                <a:solidFill>
                  <a:schemeClr val="tx2"/>
                </a:solidFill>
              </a:defRPr>
            </a:lvl1pPr>
            <a:extLst/>
          </a:lstStyle>
          <a:p>
            <a:fld id="{BF0DE94B-9ECB-4479-B6C6-6ED3999FA8C4}" type="datetimeFigureOut">
              <a:rPr lang="en-US" smtClean="0"/>
              <a:pPr/>
              <a:t>5/20/2025</a:t>
            </a:fld>
            <a:endParaRPr lang="en-US"/>
          </a:p>
        </p:txBody>
      </p:sp>
      <p:sp>
        <p:nvSpPr>
          <p:cNvPr id="5" name="Footer Placeholder 4"/>
          <p:cNvSpPr>
            <a:spLocks noGrp="1"/>
          </p:cNvSpPr>
          <p:nvPr>
            <p:ph type="ftr" sz="quarter" idx="11"/>
          </p:nvPr>
        </p:nvSpPr>
        <p:spPr>
          <a:xfrm>
            <a:off x="1735358" y="4917608"/>
            <a:ext cx="2895600" cy="17145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4916334"/>
            <a:ext cx="588336" cy="171450"/>
          </a:xfrm>
        </p:spPr>
        <p:txBody>
          <a:bodyPr/>
          <a:lstStyle/>
          <a:p>
            <a:fld id="{E004422E-EDD2-4B0B-A52B-28308297B27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F0DE94B-9ECB-4479-B6C6-6ED3999FA8C4}"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400550"/>
            <a:ext cx="3520440" cy="3429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4400550"/>
            <a:ext cx="3520440" cy="3429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BF0DE94B-9ECB-4479-B6C6-6ED3999FA8C4}" type="datetimeFigureOut">
              <a:rPr lang="en-US" smtClean="0"/>
              <a:pPr/>
              <a:t>5/20/2025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F0DE94B-9ECB-4479-B6C6-6ED3999FA8C4}" type="datetimeFigureOut">
              <a:rPr lang="en-US" smtClean="0"/>
              <a:pPr/>
              <a:t>5/20/2025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BF0DE94B-9ECB-4479-B6C6-6ED3999FA8C4}" type="datetimeFigureOut">
              <a:rPr lang="en-US" smtClean="0"/>
              <a:pPr/>
              <a:t>5/20/2025</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5897880" cy="88011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123062"/>
            <a:ext cx="5897880" cy="451884"/>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0"/>
            <a:ext cx="7239000" cy="3278814"/>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F0DE94B-9ECB-4479-B6C6-6ED3999FA8C4}"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9" y="753501"/>
            <a:ext cx="4319527" cy="323443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749112"/>
            <a:ext cx="4319527" cy="3234430"/>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857250"/>
            <a:ext cx="3429000" cy="154305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2462726"/>
            <a:ext cx="3429000" cy="144018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p>
            <a:fld id="{BF0DE94B-9ECB-4479-B6C6-6ED3999FA8C4}"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
        <p:nvSpPr>
          <p:cNvPr id="10" name="Picture Placeholder 9"/>
          <p:cNvSpPr>
            <a:spLocks noGrp="1"/>
          </p:cNvSpPr>
          <p:nvPr>
            <p:ph type="pic" idx="1"/>
          </p:nvPr>
        </p:nvSpPr>
        <p:spPr>
          <a:xfrm>
            <a:off x="663682" y="780752"/>
            <a:ext cx="4206240" cy="315468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0DE94B-9ECB-4479-B6C6-6ED3999FA8C4}"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06217"/>
            <a:ext cx="1524000" cy="4388644"/>
          </a:xfrm>
        </p:spPr>
        <p:txBody>
          <a:bodyPr vert="eaVert" ancho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2"/>
            <a:ext cx="6019800" cy="438864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4918459"/>
            <a:ext cx="2002464" cy="170177"/>
          </a:xfrm>
        </p:spPr>
        <p:txBody>
          <a:bodyPr/>
          <a:lstStyle/>
          <a:p>
            <a:fld id="{BF0DE94B-9ECB-4479-B6C6-6ED3999FA8C4}" type="datetimeFigureOut">
              <a:rPr lang="en-US" smtClean="0"/>
              <a:pPr/>
              <a:t>5/20/2025</a:t>
            </a:fld>
            <a:endParaRPr lang="en-US"/>
          </a:p>
        </p:txBody>
      </p:sp>
      <p:sp>
        <p:nvSpPr>
          <p:cNvPr id="5" name="Footer Placeholder 4"/>
          <p:cNvSpPr>
            <a:spLocks noGrp="1"/>
          </p:cNvSpPr>
          <p:nvPr>
            <p:ph type="ftr" sz="quarter" idx="11"/>
          </p:nvPr>
        </p:nvSpPr>
        <p:spPr>
          <a:xfrm>
            <a:off x="457200" y="4917186"/>
            <a:ext cx="3657600" cy="171450"/>
          </a:xfrm>
        </p:spPr>
        <p:txBody>
          <a:bodyPr/>
          <a:lstStyle/>
          <a:p>
            <a:endParaRPr lang="en-US"/>
          </a:p>
        </p:txBody>
      </p:sp>
      <p:sp>
        <p:nvSpPr>
          <p:cNvPr id="6" name="Slide Number Placeholder 5"/>
          <p:cNvSpPr>
            <a:spLocks noGrp="1"/>
          </p:cNvSpPr>
          <p:nvPr>
            <p:ph type="sldNum" sz="quarter" idx="12"/>
          </p:nvPr>
        </p:nvSpPr>
        <p:spPr>
          <a:xfrm>
            <a:off x="6254496" y="4914900"/>
            <a:ext cx="588336" cy="171450"/>
          </a:xfrm>
        </p:spPr>
        <p:txBody>
          <a:bodyPr/>
          <a:lstStyle>
            <a:lvl1pPr>
              <a:defRPr>
                <a:solidFill>
                  <a:schemeClr val="tx2"/>
                </a:solidFill>
              </a:defRPr>
            </a:lvl1pPr>
            <a:extLst/>
          </a:lstStyle>
          <a:p>
            <a:fld id="{E004422E-EDD2-4B0B-A52B-28308297B2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51435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240030"/>
            <a:ext cx="7239000" cy="857250"/>
          </a:xfrm>
          <a:prstGeom prst="rect">
            <a:avLst/>
          </a:prstGeom>
        </p:spPr>
        <p:txBody>
          <a:bodyPr vert="horz" lIns="45720" tIns="0" rIns="45720" bIns="0" anchor="b" anchorCtr="0">
            <a:normAutofit/>
          </a:bodyPr>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207062"/>
            <a:ext cx="7239000" cy="363474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4918459"/>
            <a:ext cx="2002464" cy="170177"/>
          </a:xfrm>
          <a:prstGeom prst="rect">
            <a:avLst/>
          </a:prstGeom>
        </p:spPr>
        <p:txBody>
          <a:bodyPr vert="horz" tIns="0" bIns="0" anchor="b"/>
          <a:lstStyle>
            <a:lvl1pPr algn="l" eaLnBrk="1" latinLnBrk="0" hangingPunct="1">
              <a:defRPr kumimoji="0" sz="1000">
                <a:solidFill>
                  <a:schemeClr val="tx2"/>
                </a:solidFill>
              </a:defRPr>
            </a:lvl1pPr>
            <a:extLst/>
          </a:lstStyle>
          <a:p>
            <a:fld id="{BF0DE94B-9ECB-4479-B6C6-6ED3999FA8C4}" type="datetimeFigureOut">
              <a:rPr lang="en-US" smtClean="0"/>
              <a:pPr/>
              <a:t>5/20/2025</a:t>
            </a:fld>
            <a:endParaRPr lang="en-US"/>
          </a:p>
        </p:txBody>
      </p:sp>
      <p:sp>
        <p:nvSpPr>
          <p:cNvPr id="4" name="Footer Placeholder 3"/>
          <p:cNvSpPr>
            <a:spLocks noGrp="1"/>
          </p:cNvSpPr>
          <p:nvPr>
            <p:ph type="ftr" sz="quarter" idx="3"/>
          </p:nvPr>
        </p:nvSpPr>
        <p:spPr>
          <a:xfrm>
            <a:off x="457200" y="4918460"/>
            <a:ext cx="3657600" cy="17145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4917186"/>
            <a:ext cx="588336" cy="171450"/>
          </a:xfrm>
          <a:prstGeom prst="rect">
            <a:avLst/>
          </a:prstGeom>
        </p:spPr>
        <p:txBody>
          <a:bodyPr vert="horz" lIns="0" tIns="0" rIns="0" bIns="0" anchor="b"/>
          <a:lstStyle>
            <a:lvl1pPr algn="r" eaLnBrk="1" latinLnBrk="0" hangingPunct="1">
              <a:defRPr kumimoji="0" sz="1100">
                <a:solidFill>
                  <a:schemeClr val="tx2"/>
                </a:solidFill>
              </a:defRPr>
            </a:lvl1pPr>
            <a:extLst/>
          </a:lstStyle>
          <a:p>
            <a:fld id="{E004422E-EDD2-4B0B-A52B-28308297B2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ENGINEERING CHEMISTRY - II</a:t>
            </a:r>
            <a:endParaRPr lang="en-US" dirty="0"/>
          </a:p>
        </p:txBody>
      </p:sp>
      <p:sp>
        <p:nvSpPr>
          <p:cNvPr id="3" name="Subtitle 2"/>
          <p:cNvSpPr>
            <a:spLocks noGrp="1"/>
          </p:cNvSpPr>
          <p:nvPr>
            <p:ph type="subTitle" idx="1"/>
          </p:nvPr>
        </p:nvSpPr>
        <p:spPr>
          <a:xfrm>
            <a:off x="3354442" y="2654898"/>
            <a:ext cx="5114778" cy="1042001"/>
          </a:xfrm>
        </p:spPr>
        <p:txBody>
          <a:bodyPr>
            <a:noAutofit/>
          </a:bodyPr>
          <a:lstStyle/>
          <a:p>
            <a:pPr>
              <a:lnSpc>
                <a:spcPct val="160000"/>
              </a:lnSpc>
            </a:pPr>
            <a:r>
              <a:rPr lang="en-US" sz="1600" b="1" dirty="0" smtClean="0"/>
              <a:t>22CH203</a:t>
            </a:r>
          </a:p>
          <a:p>
            <a:pPr>
              <a:lnSpc>
                <a:spcPct val="160000"/>
              </a:lnSpc>
            </a:pPr>
            <a:r>
              <a:rPr lang="en-US" sz="1600" b="1" dirty="0" smtClean="0"/>
              <a:t>Unit 5 – Lesson Plan 2</a:t>
            </a:r>
            <a:endParaRPr lang="en-US" sz="1600" b="1" dirty="0"/>
          </a:p>
        </p:txBody>
      </p:sp>
    </p:spTree>
    <p:extLst>
      <p:ext uri="{BB962C8B-B14F-4D97-AF65-F5344CB8AC3E}">
        <p14:creationId xmlns:p14="http://schemas.microsoft.com/office/powerpoint/2010/main" xmlns="" val="19011279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Radioactive decay</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500562" y="4918460"/>
            <a:ext cx="3657600" cy="171450"/>
          </a:xfrm>
        </p:spPr>
        <p:txBody>
          <a:bodyPr/>
          <a:lstStyle/>
          <a:p>
            <a:r>
              <a:rPr lang="en-US" dirty="0" smtClean="0"/>
              <a:t>Dr </a:t>
            </a:r>
            <a:r>
              <a:rPr lang="en-US" dirty="0" err="1" smtClean="0"/>
              <a:t>Rameshkumar</a:t>
            </a:r>
            <a:r>
              <a:rPr lang="en-US" dirty="0" smtClean="0"/>
              <a:t> A/AP Chemistry</a:t>
            </a:r>
            <a:endParaRPr lang="en-US" dirty="0"/>
          </a:p>
        </p:txBody>
      </p:sp>
      <p:sp>
        <p:nvSpPr>
          <p:cNvPr id="6" name="Rectangle 5"/>
          <p:cNvSpPr/>
          <p:nvPr/>
        </p:nvSpPr>
        <p:spPr>
          <a:xfrm>
            <a:off x="2566958" y="1428734"/>
            <a:ext cx="3290926" cy="915596"/>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accent5">
                    <a:lumMod val="40000"/>
                    <a:lumOff val="60000"/>
                  </a:schemeClr>
                </a:solidFill>
                <a:effectLst>
                  <a:outerShdw blurRad="38100" dist="38100" dir="2700000" algn="tl">
                    <a:srgbClr val="000000">
                      <a:alpha val="43137"/>
                    </a:srgbClr>
                  </a:outerShdw>
                </a:effectLst>
              </a:rPr>
              <a:t>Radioactive decay</a:t>
            </a:r>
            <a:endParaRPr lang="en-IN" sz="2800" b="1" dirty="0">
              <a:solidFill>
                <a:schemeClr val="accent5">
                  <a:lumMod val="40000"/>
                  <a:lumOff val="60000"/>
                </a:schemeClr>
              </a:solidFill>
              <a:effectLst>
                <a:outerShdw blurRad="38100" dist="38100" dir="2700000" algn="tl">
                  <a:srgbClr val="000000">
                    <a:alpha val="43137"/>
                  </a:srgbClr>
                </a:outerShdw>
              </a:effectLst>
            </a:endParaRPr>
          </a:p>
        </p:txBody>
      </p:sp>
      <p:cxnSp>
        <p:nvCxnSpPr>
          <p:cNvPr id="7" name="Straight Arrow Connector 6"/>
          <p:cNvCxnSpPr/>
          <p:nvPr/>
        </p:nvCxnSpPr>
        <p:spPr>
          <a:xfrm rot="5400000">
            <a:off x="2501092" y="2404254"/>
            <a:ext cx="214314" cy="21590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1000100" y="2714610"/>
            <a:ext cx="2071702" cy="714388"/>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002060"/>
                </a:solidFill>
                <a:effectLst>
                  <a:outerShdw blurRad="38100" dist="38100" dir="2700000" algn="tl">
                    <a:srgbClr val="000000">
                      <a:alpha val="43137"/>
                    </a:srgbClr>
                  </a:outerShdw>
                </a:effectLst>
              </a:rPr>
              <a:t>Alpha</a:t>
            </a:r>
            <a:endParaRPr lang="en-IN" sz="2400" b="1" dirty="0">
              <a:solidFill>
                <a:srgbClr val="002060"/>
              </a:solidFill>
              <a:effectLst>
                <a:outerShdw blurRad="38100" dist="38100" dir="2700000" algn="tl">
                  <a:srgbClr val="000000">
                    <a:alpha val="43137"/>
                  </a:srgbClr>
                </a:outerShdw>
              </a:effectLst>
            </a:endParaRPr>
          </a:p>
        </p:txBody>
      </p:sp>
      <p:cxnSp>
        <p:nvCxnSpPr>
          <p:cNvPr id="9" name="Straight Arrow Connector 8"/>
          <p:cNvCxnSpPr/>
          <p:nvPr/>
        </p:nvCxnSpPr>
        <p:spPr>
          <a:xfrm rot="16200000" flipH="1">
            <a:off x="5572133" y="2405048"/>
            <a:ext cx="214312" cy="2143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3643306" y="2714610"/>
            <a:ext cx="1785950" cy="714388"/>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002060"/>
                </a:solidFill>
                <a:effectLst>
                  <a:outerShdw blurRad="38100" dist="38100" dir="2700000" algn="tl">
                    <a:srgbClr val="000000">
                      <a:alpha val="43137"/>
                    </a:srgbClr>
                  </a:outerShdw>
                </a:effectLst>
              </a:rPr>
              <a:t>Beta</a:t>
            </a:r>
            <a:endParaRPr lang="en-IN" sz="2400" b="1" dirty="0">
              <a:solidFill>
                <a:srgbClr val="002060"/>
              </a:solidFill>
              <a:effectLst>
                <a:outerShdw blurRad="38100" dist="38100" dir="2700000" algn="tl">
                  <a:srgbClr val="000000">
                    <a:alpha val="43137"/>
                  </a:srgbClr>
                </a:outerShdw>
              </a:effectLst>
            </a:endParaRPr>
          </a:p>
        </p:txBody>
      </p:sp>
      <p:sp>
        <p:nvSpPr>
          <p:cNvPr id="11" name="Rounded Rectangle 10"/>
          <p:cNvSpPr/>
          <p:nvPr/>
        </p:nvSpPr>
        <p:spPr>
          <a:xfrm>
            <a:off x="5857884" y="2714618"/>
            <a:ext cx="1785950" cy="714388"/>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002060"/>
                </a:solidFill>
                <a:effectLst>
                  <a:outerShdw blurRad="38100" dist="38100" dir="2700000" algn="tl">
                    <a:srgbClr val="000000">
                      <a:alpha val="43137"/>
                    </a:srgbClr>
                  </a:outerShdw>
                </a:effectLst>
              </a:rPr>
              <a:t>Gamma</a:t>
            </a:r>
            <a:endParaRPr lang="en-IN" sz="2400" b="1" dirty="0">
              <a:solidFill>
                <a:srgbClr val="002060"/>
              </a:solidFill>
              <a:effectLst>
                <a:outerShdw blurRad="38100" dist="38100" dir="2700000" algn="tl">
                  <a:srgbClr val="000000">
                    <a:alpha val="43137"/>
                  </a:srgbClr>
                </a:outerShdw>
              </a:effectLst>
            </a:endParaRPr>
          </a:p>
        </p:txBody>
      </p:sp>
      <p:cxnSp>
        <p:nvCxnSpPr>
          <p:cNvPr id="13" name="Straight Arrow Connector 12"/>
          <p:cNvCxnSpPr/>
          <p:nvPr/>
        </p:nvCxnSpPr>
        <p:spPr>
          <a:xfrm rot="5400000">
            <a:off x="4071932" y="2500305"/>
            <a:ext cx="28575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4" presetClass="entr" presetSubtype="16"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ox(in)">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ox(in)">
                                      <p:cBhvr>
                                        <p:cTn id="31" dur="500"/>
                                        <p:tgtEl>
                                          <p:spTgt spid="9"/>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ox(in)">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Alpha particle emission</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fontScale="77500" lnSpcReduction="20000"/>
          </a:bodyPr>
          <a:lstStyle/>
          <a:p>
            <a:pPr algn="just">
              <a:lnSpc>
                <a:spcPct val="150000"/>
              </a:lnSpc>
            </a:pPr>
            <a:r>
              <a:rPr lang="en-IN" sz="2800" dirty="0" smtClean="0">
                <a:latin typeface="Andalus" pitchFamily="18" charset="-78"/>
                <a:cs typeface="Andalus" pitchFamily="18" charset="-78"/>
              </a:rPr>
              <a:t>An alpha particle is composed of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two protons and two neutrons </a:t>
            </a:r>
            <a:r>
              <a:rPr lang="en-IN" sz="2800" dirty="0" smtClean="0">
                <a:latin typeface="Andalus" pitchFamily="18" charset="-78"/>
                <a:cs typeface="Andalus" pitchFamily="18" charset="-78"/>
              </a:rPr>
              <a:t>and is the same as a helium nucleus. It has a 2+ charge. </a:t>
            </a:r>
          </a:p>
          <a:p>
            <a:pPr algn="just">
              <a:lnSpc>
                <a:spcPct val="150000"/>
              </a:lnSpc>
            </a:pPr>
            <a:r>
              <a:rPr lang="en-IN" sz="2800" dirty="0" smtClean="0">
                <a:latin typeface="Andalus" pitchFamily="18" charset="-78"/>
                <a:cs typeface="Andalus" pitchFamily="18" charset="-78"/>
              </a:rPr>
              <a:t>When a radioactive atom emits an alpha particle, the original atom’s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atomic number decreases by two </a:t>
            </a:r>
            <a:r>
              <a:rPr lang="en-IN" sz="2800" dirty="0" smtClean="0">
                <a:latin typeface="Andalus" pitchFamily="18" charset="-78"/>
                <a:cs typeface="Andalus" pitchFamily="18" charset="-78"/>
              </a:rPr>
              <a:t>(because of the loss of two protons), and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its mass number decreases by four </a:t>
            </a:r>
            <a:r>
              <a:rPr lang="en-IN" sz="2800" dirty="0" smtClean="0">
                <a:latin typeface="Andalus" pitchFamily="18" charset="-78"/>
                <a:cs typeface="Andalus" pitchFamily="18" charset="-78"/>
              </a:rPr>
              <a:t>(because of the loss of four nuclear particles)</a:t>
            </a:r>
            <a:r>
              <a:rPr lang="en-US" sz="2800" dirty="0" smtClean="0">
                <a:latin typeface="Andalus" pitchFamily="18" charset="-78"/>
                <a:cs typeface="Andalus" pitchFamily="18" charset="-78"/>
              </a:rPr>
              <a:t>.</a:t>
            </a:r>
            <a:endParaRPr lang="en-IN" sz="2800"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Alpha particle emission</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857356" y="1785932"/>
            <a:ext cx="4714908" cy="136642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beta particle emission</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fontScale="70000" lnSpcReduction="20000"/>
          </a:bodyPr>
          <a:lstStyle/>
          <a:p>
            <a:pPr algn="just">
              <a:lnSpc>
                <a:spcPct val="150000"/>
              </a:lnSpc>
            </a:pPr>
            <a:r>
              <a:rPr lang="en-IN" sz="2800" dirty="0" smtClean="0">
                <a:latin typeface="Andalus" pitchFamily="18" charset="-78"/>
                <a:cs typeface="Andalus" pitchFamily="18" charset="-78"/>
              </a:rPr>
              <a:t>A beta particle is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an electron ejected from the nucleus </a:t>
            </a:r>
            <a:r>
              <a:rPr lang="en-IN" sz="2800" dirty="0" smtClean="0">
                <a:latin typeface="Andalus" pitchFamily="18" charset="-78"/>
                <a:cs typeface="Andalus" pitchFamily="18" charset="-78"/>
              </a:rPr>
              <a:t>(not from the shells of electrons about the nucleus) and has a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-1 charge</a:t>
            </a:r>
            <a:r>
              <a:rPr lang="en-IN" sz="2800" dirty="0" smtClean="0">
                <a:latin typeface="Andalus" pitchFamily="18" charset="-78"/>
                <a:cs typeface="Andalus" pitchFamily="18" charset="-78"/>
              </a:rPr>
              <a:t>. </a:t>
            </a:r>
          </a:p>
          <a:p>
            <a:pPr algn="just">
              <a:lnSpc>
                <a:spcPct val="150000"/>
              </a:lnSpc>
            </a:pPr>
            <a:r>
              <a:rPr lang="en-IN" sz="2800" dirty="0" smtClean="0">
                <a:latin typeface="Andalus" pitchFamily="18" charset="-78"/>
                <a:cs typeface="Andalus" pitchFamily="18" charset="-78"/>
              </a:rPr>
              <a:t>We can also represent a beta particle as </a:t>
            </a:r>
            <a:r>
              <a:rPr lang="en-IN" sz="2800" baseline="-250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-1</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e</a:t>
            </a:r>
            <a:r>
              <a:rPr lang="en-IN" sz="2800" baseline="300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0</a:t>
            </a:r>
            <a:r>
              <a:rPr lang="en-IN" sz="2800" dirty="0" smtClean="0">
                <a:latin typeface="Andalus" pitchFamily="18" charset="-78"/>
                <a:cs typeface="Andalus" pitchFamily="18" charset="-78"/>
              </a:rPr>
              <a:t>. </a:t>
            </a:r>
          </a:p>
          <a:p>
            <a:pPr algn="just">
              <a:lnSpc>
                <a:spcPct val="150000"/>
              </a:lnSpc>
            </a:pPr>
            <a:r>
              <a:rPr lang="en-IN" sz="2800" dirty="0" smtClean="0">
                <a:latin typeface="Andalus" pitchFamily="18" charset="-78"/>
                <a:cs typeface="Andalus" pitchFamily="18" charset="-78"/>
              </a:rPr>
              <a:t>The net effect of beta particle emission on a nucleus is that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a neutron is converted to a proton</a:t>
            </a:r>
            <a:r>
              <a:rPr lang="en-IN" sz="2800" dirty="0" smtClean="0">
                <a:latin typeface="Andalus" pitchFamily="18" charset="-78"/>
                <a:cs typeface="Andalus" pitchFamily="18" charset="-78"/>
              </a:rPr>
              <a:t>. </a:t>
            </a:r>
          </a:p>
          <a:p>
            <a:pPr algn="just">
              <a:lnSpc>
                <a:spcPct val="150000"/>
              </a:lnSpc>
            </a:pPr>
            <a:r>
              <a:rPr lang="en-IN" sz="2800" dirty="0" smtClean="0">
                <a:latin typeface="Andalus" pitchFamily="18" charset="-78"/>
                <a:cs typeface="Andalus" pitchFamily="18" charset="-78"/>
              </a:rPr>
              <a:t>The overall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mass number stays the same</a:t>
            </a:r>
            <a:r>
              <a:rPr lang="en-IN" sz="2800" dirty="0" smtClean="0">
                <a:latin typeface="Andalus" pitchFamily="18" charset="-78"/>
                <a:cs typeface="Andalus" pitchFamily="18" charset="-78"/>
              </a:rPr>
              <a:t>, but because the number of protons increases by one, </a:t>
            </a:r>
            <a:r>
              <a:rPr lang="en-IN" sz="28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the atomic number goes up by one</a:t>
            </a:r>
            <a:r>
              <a:rPr lang="en-IN" sz="2800" dirty="0" smtClean="0">
                <a:latin typeface="Andalus" pitchFamily="18" charset="-78"/>
                <a:cs typeface="Andalus" pitchFamily="18" charset="-78"/>
              </a:rPr>
              <a:t>.</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beta particle emission</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2050" name="Picture 2"/>
          <p:cNvPicPr>
            <a:picLocks noGrp="1" noChangeAspect="1" noChangeArrowheads="1"/>
          </p:cNvPicPr>
          <p:nvPr>
            <p:ph idx="1"/>
          </p:nvPr>
        </p:nvPicPr>
        <p:blipFill>
          <a:blip r:embed="rId2" cstate="print"/>
          <a:srcRect/>
          <a:stretch>
            <a:fillRect/>
          </a:stretch>
        </p:blipFill>
        <p:spPr bwMode="auto">
          <a:xfrm>
            <a:off x="1285852" y="1785932"/>
            <a:ext cx="5953797" cy="14807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94"/>
            <a:ext cx="723900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Gamma Radiation </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
        <p:nvSpPr>
          <p:cNvPr id="6" name="Content Placeholder 5"/>
          <p:cNvSpPr>
            <a:spLocks noGrp="1"/>
          </p:cNvSpPr>
          <p:nvPr>
            <p:ph idx="1"/>
          </p:nvPr>
        </p:nvSpPr>
        <p:spPr>
          <a:xfrm>
            <a:off x="457200" y="688628"/>
            <a:ext cx="7543824" cy="3634740"/>
          </a:xfrm>
        </p:spPr>
        <p:txBody>
          <a:bodyPr>
            <a:noAutofit/>
          </a:bodyPr>
          <a:lstStyle/>
          <a:p>
            <a:pPr algn="just">
              <a:lnSpc>
                <a:spcPct val="200000"/>
              </a:lnSpc>
            </a:pPr>
            <a:r>
              <a:rPr lang="en-IN" sz="2000" dirty="0" smtClean="0">
                <a:latin typeface="Andalus" pitchFamily="18" charset="-78"/>
                <a:cs typeface="Andalus" pitchFamily="18" charset="-78"/>
              </a:rPr>
              <a:t>The third major type of radioactive emission is </a:t>
            </a:r>
            <a:r>
              <a:rPr lang="en-IN" sz="20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not a particle </a:t>
            </a:r>
            <a:r>
              <a:rPr lang="en-IN" sz="2000" dirty="0" smtClean="0">
                <a:latin typeface="Andalus" pitchFamily="18" charset="-78"/>
                <a:cs typeface="Andalus" pitchFamily="18" charset="-78"/>
              </a:rPr>
              <a:t>but rather </a:t>
            </a:r>
            <a:r>
              <a:rPr lang="en-IN" sz="20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a very energetic form of electromagnetic radiation called gamma rays</a:t>
            </a:r>
            <a:r>
              <a:rPr lang="en-IN" sz="2000" dirty="0" smtClean="0">
                <a:latin typeface="Andalus" pitchFamily="18" charset="-78"/>
                <a:cs typeface="Andalus" pitchFamily="18" charset="-78"/>
              </a:rPr>
              <a:t>, symbolized by the Greek letter γ. </a:t>
            </a:r>
          </a:p>
          <a:p>
            <a:pPr algn="just">
              <a:lnSpc>
                <a:spcPct val="200000"/>
              </a:lnSpc>
            </a:pPr>
            <a:r>
              <a:rPr lang="en-IN" sz="2000" dirty="0" smtClean="0">
                <a:latin typeface="Andalus" pitchFamily="18" charset="-78"/>
                <a:cs typeface="Andalus" pitchFamily="18" charset="-78"/>
              </a:rPr>
              <a:t>Gamma rays are examples of ionizing radiation. </a:t>
            </a:r>
          </a:p>
          <a:p>
            <a:pPr algn="just">
              <a:lnSpc>
                <a:spcPct val="200000"/>
              </a:lnSpc>
            </a:pPr>
            <a:r>
              <a:rPr lang="en-IN" sz="2000" dirty="0" smtClean="0">
                <a:latin typeface="Andalus" pitchFamily="18" charset="-78"/>
                <a:cs typeface="Andalus" pitchFamily="18" charset="-78"/>
              </a:rPr>
              <a:t>Some radioactive materials, emit gamma radiation during their decay.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26"/>
            <a:ext cx="723900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Gamma Radiation </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3074" name="Picture 2"/>
          <p:cNvPicPr>
            <a:picLocks noGrp="1" noChangeAspect="1" noChangeArrowheads="1"/>
          </p:cNvPicPr>
          <p:nvPr>
            <p:ph idx="1"/>
          </p:nvPr>
        </p:nvPicPr>
        <p:blipFill>
          <a:blip r:embed="rId2" cstate="print"/>
          <a:srcRect/>
          <a:stretch>
            <a:fillRect/>
          </a:stretch>
        </p:blipFill>
        <p:spPr bwMode="auto">
          <a:xfrm>
            <a:off x="1176014" y="1714494"/>
            <a:ext cx="4704262" cy="1219367"/>
          </a:xfrm>
          <a:prstGeom prst="rect">
            <a:avLst/>
          </a:prstGeom>
          <a:noFill/>
          <a:ln w="9525">
            <a:noFill/>
            <a:miter lim="800000"/>
            <a:headEnd/>
            <a:tailEnd/>
          </a:ln>
          <a:effectLst/>
        </p:spPr>
      </p:pic>
      <p:sp>
        <p:nvSpPr>
          <p:cNvPr id="6" name="Rectangle 5"/>
          <p:cNvSpPr/>
          <p:nvPr/>
        </p:nvSpPr>
        <p:spPr>
          <a:xfrm>
            <a:off x="467544" y="915566"/>
            <a:ext cx="7488832" cy="3754874"/>
          </a:xfrm>
          <a:prstGeom prst="rect">
            <a:avLst/>
          </a:prstGeom>
        </p:spPr>
        <p:txBody>
          <a:bodyPr wrap="square">
            <a:spAutoFit/>
          </a:bodyPr>
          <a:lstStyle/>
          <a:p>
            <a:pPr algn="just">
              <a:lnSpc>
                <a:spcPct val="170000"/>
              </a:lnSpc>
              <a:buFont typeface="Wingdings" pitchFamily="2" charset="2"/>
              <a:buChar char="q"/>
            </a:pPr>
            <a:r>
              <a:rPr lang="en-IN" sz="2000" dirty="0" smtClean="0">
                <a:latin typeface="Andalus" pitchFamily="18" charset="-78"/>
                <a:cs typeface="Andalus" pitchFamily="18" charset="-78"/>
              </a:rPr>
              <a:t>For example, in the decay of radioactive technetium99, a gamma ray is emitted. </a:t>
            </a:r>
          </a:p>
          <a:p>
            <a:pPr algn="just">
              <a:lnSpc>
                <a:spcPct val="170000"/>
              </a:lnSpc>
              <a:buFont typeface="Wingdings" pitchFamily="2" charset="2"/>
              <a:buChar char="q"/>
            </a:pPr>
            <a:endParaRPr lang="en-IN" sz="2000" dirty="0" smtClean="0">
              <a:latin typeface="Andalus" pitchFamily="18" charset="-78"/>
              <a:cs typeface="Andalus" pitchFamily="18" charset="-78"/>
            </a:endParaRPr>
          </a:p>
          <a:p>
            <a:pPr algn="just">
              <a:lnSpc>
                <a:spcPct val="170000"/>
              </a:lnSpc>
              <a:buFont typeface="Wingdings" pitchFamily="2" charset="2"/>
              <a:buChar char="q"/>
            </a:pPr>
            <a:endParaRPr lang="en-IN" sz="2000" dirty="0" smtClean="0">
              <a:latin typeface="Andalus" pitchFamily="18" charset="-78"/>
              <a:cs typeface="Andalus" pitchFamily="18" charset="-78"/>
            </a:endParaRPr>
          </a:p>
          <a:p>
            <a:pPr algn="just">
              <a:lnSpc>
                <a:spcPct val="170000"/>
              </a:lnSpc>
              <a:buFont typeface="Wingdings" pitchFamily="2" charset="2"/>
              <a:buChar char="q"/>
            </a:pPr>
            <a:r>
              <a:rPr lang="en-IN" sz="2000" dirty="0" smtClean="0">
                <a:latin typeface="Andalus" pitchFamily="18" charset="-78"/>
                <a:cs typeface="Andalus" pitchFamily="18" charset="-78"/>
              </a:rPr>
              <a:t>Note that in radioactive decay where the emission of gamma  radiation occurs, that the identity of the parent material does not change, as no particles are physically emitted.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94"/>
            <a:ext cx="723900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Penetrating power </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098" name="Picture 2"/>
          <p:cNvPicPr>
            <a:picLocks noGrp="1" noChangeAspect="1" noChangeArrowheads="1"/>
          </p:cNvPicPr>
          <p:nvPr>
            <p:ph idx="1"/>
          </p:nvPr>
        </p:nvPicPr>
        <p:blipFill>
          <a:blip r:embed="rId2" cstate="print"/>
          <a:srcRect/>
          <a:stretch>
            <a:fillRect/>
          </a:stretch>
        </p:blipFill>
        <p:spPr bwMode="auto">
          <a:xfrm>
            <a:off x="1481241" y="928670"/>
            <a:ext cx="4876709" cy="2517437"/>
          </a:xfrm>
          <a:prstGeom prst="rect">
            <a:avLst/>
          </a:prstGeom>
          <a:noFill/>
          <a:ln w="9525">
            <a:noFill/>
            <a:miter lim="800000"/>
            <a:headEnd/>
            <a:tailEnd/>
          </a:ln>
          <a:effectLst/>
        </p:spPr>
      </p:pic>
      <p:sp>
        <p:nvSpPr>
          <p:cNvPr id="7" name="Rectangle 6"/>
          <p:cNvSpPr/>
          <p:nvPr/>
        </p:nvSpPr>
        <p:spPr>
          <a:xfrm>
            <a:off x="428596" y="3447494"/>
            <a:ext cx="7643866" cy="1338828"/>
          </a:xfrm>
          <a:prstGeom prst="rect">
            <a:avLst/>
          </a:prstGeom>
        </p:spPr>
        <p:txBody>
          <a:bodyPr wrap="square">
            <a:spAutoFit/>
          </a:bodyPr>
          <a:lstStyle/>
          <a:p>
            <a:pPr marL="363538" indent="-363538" algn="just">
              <a:lnSpc>
                <a:spcPct val="150000"/>
              </a:lnSpc>
              <a:buFont typeface="Arial" pitchFamily="34" charset="0"/>
              <a:buChar char="•"/>
            </a:pPr>
            <a:r>
              <a:rPr lang="en-IN" dirty="0" smtClean="0">
                <a:latin typeface="Andalus" pitchFamily="18" charset="-78"/>
                <a:cs typeface="Andalus" pitchFamily="18" charset="-78"/>
              </a:rPr>
              <a:t>Typical alpha particles (a) are stopped by a sheet of paper, while beta particles (ß) are stopped by an </a:t>
            </a:r>
            <a:r>
              <a:rPr lang="en-IN" dirty="0" err="1" smtClean="0">
                <a:latin typeface="Andalus" pitchFamily="18" charset="-78"/>
                <a:cs typeface="Andalus" pitchFamily="18" charset="-78"/>
              </a:rPr>
              <a:t>aluminum</a:t>
            </a:r>
            <a:r>
              <a:rPr lang="en-IN" dirty="0" smtClean="0">
                <a:latin typeface="Andalus" pitchFamily="18" charset="-78"/>
                <a:cs typeface="Andalus" pitchFamily="18" charset="-78"/>
              </a:rPr>
              <a:t> plate. Gamma radiation (γ) is damped when it penetrates lead.</a:t>
            </a:r>
            <a:r>
              <a:rPr lang="en-IN" b="1" dirty="0" smtClean="0">
                <a:latin typeface="Andalus" pitchFamily="18" charset="-78"/>
                <a:cs typeface="Andalus" pitchFamily="18" charset="-78"/>
              </a:rPr>
              <a:t> </a:t>
            </a:r>
            <a:endParaRPr lang="en-IN" dirty="0">
              <a:latin typeface="Andalus" pitchFamily="18" charset="-78"/>
              <a:cs typeface="Andalus" pitchFamily="18" charset="-78"/>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2634"/>
            <a:ext cx="723900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Summary</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
        <p:nvSpPr>
          <p:cNvPr id="34818" name="AutoShape 2" descr="Physicist Page - Henri Becquerel: The discovery of radioactivity. On 12  June 1901, the french physicist Henri Becquerel was doing a demonstration  at the academy of sciences of Paris for a ne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4821" name="AutoShape 5" descr="Henri Becquerel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5122" name="Picture 2"/>
          <p:cNvPicPr>
            <a:picLocks noChangeAspect="1" noChangeArrowheads="1"/>
          </p:cNvPicPr>
          <p:nvPr/>
        </p:nvPicPr>
        <p:blipFill>
          <a:blip r:embed="rId2" cstate="print"/>
          <a:srcRect/>
          <a:stretch>
            <a:fillRect/>
          </a:stretch>
        </p:blipFill>
        <p:spPr bwMode="auto">
          <a:xfrm>
            <a:off x="0" y="714362"/>
            <a:ext cx="8117827" cy="36433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Positron Emission </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fontScale="85000" lnSpcReduction="20000"/>
          </a:bodyPr>
          <a:lstStyle/>
          <a:p>
            <a:pPr algn="just">
              <a:lnSpc>
                <a:spcPct val="150000"/>
              </a:lnSpc>
            </a:pPr>
            <a:r>
              <a:rPr lang="en-IN" sz="2400" dirty="0" smtClean="0">
                <a:latin typeface="Andalus" pitchFamily="18" charset="-78"/>
                <a:cs typeface="Andalus" pitchFamily="18" charset="-78"/>
              </a:rPr>
              <a:t>The positron has </a:t>
            </a:r>
            <a:r>
              <a:rPr lang="en-IN" sz="24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the mass of an electron, but a positive charge</a:t>
            </a:r>
            <a:r>
              <a:rPr lang="en-IN" sz="2400" dirty="0" smtClean="0">
                <a:latin typeface="Andalus" pitchFamily="18" charset="-78"/>
                <a:cs typeface="Andalus" pitchFamily="18" charset="-78"/>
              </a:rPr>
              <a:t>. </a:t>
            </a:r>
          </a:p>
          <a:p>
            <a:pPr algn="just">
              <a:lnSpc>
                <a:spcPct val="150000"/>
              </a:lnSpc>
            </a:pPr>
            <a:r>
              <a:rPr lang="en-IN" sz="2400" dirty="0" smtClean="0">
                <a:latin typeface="Andalus" pitchFamily="18" charset="-78"/>
                <a:cs typeface="Andalus" pitchFamily="18" charset="-78"/>
              </a:rPr>
              <a:t>Positron emission is observed for nuclides in which </a:t>
            </a:r>
            <a:r>
              <a:rPr lang="en-IN" sz="24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the n:p ratio is low</a:t>
            </a:r>
            <a:r>
              <a:rPr lang="en-IN" sz="2400" dirty="0" smtClean="0">
                <a:latin typeface="Andalus" pitchFamily="18" charset="-78"/>
                <a:cs typeface="Andalus" pitchFamily="18" charset="-78"/>
              </a:rPr>
              <a:t>. </a:t>
            </a:r>
          </a:p>
          <a:p>
            <a:pPr algn="just">
              <a:lnSpc>
                <a:spcPct val="150000"/>
              </a:lnSpc>
            </a:pPr>
            <a:r>
              <a:rPr lang="en-IN" sz="2400" dirty="0" smtClean="0">
                <a:latin typeface="Andalus" pitchFamily="18" charset="-78"/>
                <a:cs typeface="Andalus" pitchFamily="18" charset="-78"/>
              </a:rPr>
              <a:t>These nuclides lie </a:t>
            </a:r>
            <a:r>
              <a:rPr lang="en-IN" sz="24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below the band of stability</a:t>
            </a:r>
            <a:r>
              <a:rPr lang="en-IN" sz="2400" dirty="0" smtClean="0">
                <a:latin typeface="Andalus" pitchFamily="18" charset="-78"/>
                <a:cs typeface="Andalus" pitchFamily="18" charset="-78"/>
              </a:rPr>
              <a:t>. </a:t>
            </a:r>
          </a:p>
          <a:p>
            <a:pPr algn="just">
              <a:lnSpc>
                <a:spcPct val="150000"/>
              </a:lnSpc>
            </a:pPr>
            <a:r>
              <a:rPr lang="en-IN" sz="2400" dirty="0" smtClean="0">
                <a:latin typeface="Andalus" pitchFamily="18" charset="-78"/>
                <a:cs typeface="Andalus" pitchFamily="18" charset="-78"/>
              </a:rPr>
              <a:t>Positron decay is the </a:t>
            </a:r>
            <a:r>
              <a:rPr lang="en-IN" sz="24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conversion of a proton into a neutron</a:t>
            </a:r>
            <a:r>
              <a:rPr lang="en-IN" sz="2400" dirty="0" smtClean="0">
                <a:latin typeface="Andalus" pitchFamily="18" charset="-78"/>
                <a:cs typeface="Andalus" pitchFamily="18" charset="-78"/>
              </a:rPr>
              <a:t> with the emission of a positron. The n:p ratio increases, and the daughter nuclide lies closer to the band of stability than did the parent nuclide. </a:t>
            </a:r>
          </a:p>
          <a:p>
            <a:pPr algn="just">
              <a:lnSpc>
                <a:spcPct val="150000"/>
              </a:lnSpc>
            </a:pPr>
            <a:endParaRPr lang="en-IN" sz="2400"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Positron Emission </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sz="2400" dirty="0" smtClean="0">
                <a:latin typeface="Andalus" pitchFamily="18" charset="-78"/>
                <a:cs typeface="Andalus" pitchFamily="18" charset="-78"/>
              </a:rPr>
              <a:t>The overall mass of the nuclide doesn’t change, but the atomic number is decreased by one.</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6146" name="Picture 2"/>
          <p:cNvPicPr>
            <a:picLocks noChangeAspect="1" noChangeArrowheads="1"/>
          </p:cNvPicPr>
          <p:nvPr/>
        </p:nvPicPr>
        <p:blipFill>
          <a:blip r:embed="rId2" cstate="print"/>
          <a:srcRect/>
          <a:stretch>
            <a:fillRect/>
          </a:stretch>
        </p:blipFill>
        <p:spPr bwMode="auto">
          <a:xfrm>
            <a:off x="2000232" y="2357436"/>
            <a:ext cx="5136780" cy="102394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00B0F0"/>
                </a:solidFill>
                <a:effectLst>
                  <a:outerShdw blurRad="38100" dist="38100" dir="2700000" algn="tl">
                    <a:srgbClr val="000000">
                      <a:alpha val="43137"/>
                    </a:srgbClr>
                  </a:outerShdw>
                </a:effectLst>
              </a:rPr>
              <a:t>Electron capture</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fontScale="70000" lnSpcReduction="20000"/>
          </a:bodyPr>
          <a:lstStyle/>
          <a:p>
            <a:pPr algn="just">
              <a:lnSpc>
                <a:spcPct val="150000"/>
              </a:lnSpc>
            </a:pPr>
            <a:r>
              <a:rPr lang="en-IN" sz="2400" dirty="0" smtClean="0">
                <a:latin typeface="Andalus" pitchFamily="18" charset="-78"/>
                <a:cs typeface="Andalus" pitchFamily="18" charset="-78"/>
              </a:rPr>
              <a:t> Electron capture occurs when one of the inner electrons in an atom is captured by the atom’s nucleus.</a:t>
            </a:r>
          </a:p>
          <a:p>
            <a:pPr algn="just">
              <a:lnSpc>
                <a:spcPct val="150000"/>
              </a:lnSpc>
            </a:pPr>
            <a:endParaRPr lang="en-IN" sz="2400" dirty="0" smtClean="0">
              <a:latin typeface="Andalus" pitchFamily="18" charset="-78"/>
              <a:cs typeface="Andalus" pitchFamily="18" charset="-78"/>
            </a:endParaRPr>
          </a:p>
          <a:p>
            <a:pPr algn="just">
              <a:lnSpc>
                <a:spcPct val="150000"/>
              </a:lnSpc>
            </a:pPr>
            <a:endParaRPr lang="en-US" sz="2400" dirty="0" smtClean="0">
              <a:latin typeface="Andalus" pitchFamily="18" charset="-78"/>
              <a:cs typeface="Andalus" pitchFamily="18" charset="-78"/>
            </a:endParaRPr>
          </a:p>
          <a:p>
            <a:pPr algn="just">
              <a:lnSpc>
                <a:spcPct val="150000"/>
              </a:lnSpc>
            </a:pPr>
            <a:r>
              <a:rPr lang="en-IN" sz="2400" dirty="0" smtClean="0">
                <a:latin typeface="Andalus" pitchFamily="18" charset="-78"/>
                <a:cs typeface="Andalus" pitchFamily="18" charset="-78"/>
              </a:rPr>
              <a:t>An inner shell electron combines </a:t>
            </a:r>
            <a:r>
              <a:rPr lang="en-IN" sz="2400"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with a proton and is converted into a neutron</a:t>
            </a:r>
            <a:r>
              <a:rPr lang="en-IN" sz="2400" dirty="0" smtClean="0">
                <a:latin typeface="Andalus" pitchFamily="18" charset="-78"/>
                <a:cs typeface="Andalus" pitchFamily="18" charset="-78"/>
              </a:rPr>
              <a:t>. </a:t>
            </a:r>
          </a:p>
          <a:p>
            <a:pPr algn="just">
              <a:lnSpc>
                <a:spcPct val="150000"/>
              </a:lnSpc>
            </a:pPr>
            <a:r>
              <a:rPr lang="en-IN" sz="2400" dirty="0" smtClean="0">
                <a:latin typeface="Andalus" pitchFamily="18" charset="-78"/>
                <a:cs typeface="Andalus" pitchFamily="18" charset="-78"/>
              </a:rPr>
              <a:t>The loss of an inner shell electron leaves a vacancy that will be filled by one of the outer electrons. As the outer electron drops into the vacancy, it will emit energy. In most cases, the energy emitted will be in the form of an X-ray</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7170" name="Picture 2"/>
          <p:cNvPicPr>
            <a:picLocks noChangeAspect="1" noChangeArrowheads="1"/>
          </p:cNvPicPr>
          <p:nvPr/>
        </p:nvPicPr>
        <p:blipFill>
          <a:blip r:embed="rId2" cstate="print"/>
          <a:srcRect/>
          <a:stretch>
            <a:fillRect/>
          </a:stretch>
        </p:blipFill>
        <p:spPr bwMode="auto">
          <a:xfrm>
            <a:off x="2214546" y="2000246"/>
            <a:ext cx="3387725" cy="5334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0" y="1"/>
            <a:ext cx="9144000" cy="5120672"/>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00B0F0"/>
                </a:solidFill>
                <a:effectLst>
                  <a:outerShdw blurRad="38100" dist="38100" dir="2700000" algn="tl">
                    <a:srgbClr val="000000">
                      <a:alpha val="43137"/>
                    </a:srgbClr>
                  </a:outerShdw>
                </a:effectLst>
              </a:rPr>
              <a:t>Radioactive Half Life Period:</a:t>
            </a:r>
          </a:p>
        </p:txBody>
      </p:sp>
      <p:sp>
        <p:nvSpPr>
          <p:cNvPr id="3" name="Content Placeholder 2"/>
          <p:cNvSpPr>
            <a:spLocks noGrp="1"/>
          </p:cNvSpPr>
          <p:nvPr>
            <p:ph idx="1"/>
          </p:nvPr>
        </p:nvSpPr>
        <p:spPr/>
        <p:txBody>
          <a:bodyPr>
            <a:normAutofit lnSpcReduction="10000"/>
          </a:bodyPr>
          <a:lstStyle/>
          <a:p>
            <a:pPr algn="just">
              <a:lnSpc>
                <a:spcPct val="150000"/>
              </a:lnSpc>
            </a:pPr>
            <a:r>
              <a:rPr lang="en-IN" dirty="0">
                <a:latin typeface="Andalus" panose="02020603050405020304" pitchFamily="18" charset="-78"/>
                <a:cs typeface="Andalus" panose="02020603050405020304" pitchFamily="18" charset="-78"/>
              </a:rPr>
              <a:t>Each radioactive nuclide has a </a:t>
            </a:r>
            <a:r>
              <a:rPr lang="en-IN" dirty="0" smtClean="0">
                <a:latin typeface="Andalus" panose="02020603050405020304" pitchFamily="18" charset="-78"/>
                <a:cs typeface="Andalus" panose="02020603050405020304" pitchFamily="18" charset="-78"/>
              </a:rPr>
              <a:t>constant </a:t>
            </a:r>
            <a:r>
              <a:rPr lang="en-IN" dirty="0">
                <a:latin typeface="Andalus" panose="02020603050405020304" pitchFamily="18" charset="-78"/>
                <a:cs typeface="Andalus" panose="02020603050405020304" pitchFamily="18" charset="-78"/>
              </a:rPr>
              <a:t>half-life (t</a:t>
            </a:r>
            <a:r>
              <a:rPr lang="en-IN" baseline="-25000" dirty="0">
                <a:latin typeface="Andalus" panose="02020603050405020304" pitchFamily="18" charset="-78"/>
                <a:cs typeface="Andalus" panose="02020603050405020304" pitchFamily="18" charset="-78"/>
              </a:rPr>
              <a:t>1/2</a:t>
            </a:r>
            <a:r>
              <a:rPr lang="en-IN" dirty="0">
                <a:latin typeface="Andalus" panose="02020603050405020304" pitchFamily="18" charset="-78"/>
                <a:cs typeface="Andalus" panose="02020603050405020304" pitchFamily="18" charset="-78"/>
              </a:rPr>
              <a:t>), the time required for half of the atoms in a sample to decay</a:t>
            </a:r>
            <a:r>
              <a:rPr lang="en-IN" dirty="0" smtClean="0">
                <a:latin typeface="Andalus" panose="02020603050405020304" pitchFamily="18" charset="-78"/>
                <a:cs typeface="Andalus" panose="02020603050405020304" pitchFamily="18" charset="-78"/>
              </a:rPr>
              <a:t>.</a:t>
            </a:r>
          </a:p>
          <a:p>
            <a:pPr algn="just">
              <a:lnSpc>
                <a:spcPct val="150000"/>
              </a:lnSpc>
            </a:pPr>
            <a:r>
              <a:rPr lang="en-IN" dirty="0" smtClean="0">
                <a:latin typeface="Andalus" panose="02020603050405020304" pitchFamily="18" charset="-78"/>
                <a:cs typeface="Andalus" panose="02020603050405020304" pitchFamily="18" charset="-78"/>
              </a:rPr>
              <a:t>The </a:t>
            </a:r>
            <a:r>
              <a:rPr lang="en-IN" dirty="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intensity </a:t>
            </a:r>
            <a:r>
              <a:rPr lang="en-IN" dirty="0" smtClean="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of radiation </a:t>
            </a:r>
            <a:r>
              <a:rPr lang="en-IN" dirty="0">
                <a:latin typeface="Andalus" panose="02020603050405020304" pitchFamily="18" charset="-78"/>
                <a:cs typeface="Andalus" panose="02020603050405020304" pitchFamily="18" charset="-78"/>
              </a:rPr>
              <a:t>that it produces is </a:t>
            </a:r>
            <a:r>
              <a:rPr lang="en-IN" dirty="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directly proportional to the rate of decay of the </a:t>
            </a:r>
            <a:r>
              <a:rPr lang="en-IN" dirty="0" smtClean="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substance and </a:t>
            </a:r>
            <a:r>
              <a:rPr lang="en-IN" dirty="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the amount of the </a:t>
            </a:r>
            <a:r>
              <a:rPr lang="en-IN" dirty="0" smtClean="0">
                <a:solidFill>
                  <a:srgbClr val="FF0000"/>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substance</a:t>
            </a:r>
            <a:r>
              <a:rPr lang="en-IN" dirty="0" smtClean="0">
                <a:latin typeface="Andalus" panose="02020603050405020304" pitchFamily="18" charset="-78"/>
                <a:cs typeface="Andalus" panose="02020603050405020304" pitchFamily="18" charset="-78"/>
              </a:rPr>
              <a:t>.</a:t>
            </a:r>
            <a:endParaRPr lang="en-IN" dirty="0">
              <a:latin typeface="Andalus" panose="02020603050405020304" pitchFamily="18" charset="-78"/>
              <a:cs typeface="Andalus" panose="02020603050405020304" pitchFamily="18" charset="-78"/>
            </a:endParaRPr>
          </a:p>
        </p:txBody>
      </p:sp>
      <p:sp>
        <p:nvSpPr>
          <p:cNvPr id="5" name="Footer Placeholder 6"/>
          <p:cNvSpPr>
            <a:spLocks noGrp="1"/>
          </p:cNvSpPr>
          <p:nvPr>
            <p:ph type="ftr" sz="quarter" idx="11"/>
          </p:nvPr>
        </p:nvSpPr>
        <p:spPr>
          <a:xfrm>
            <a:off x="4499992" y="4936087"/>
            <a:ext cx="3657600" cy="171450"/>
          </a:xfrm>
        </p:spPr>
        <p:txBody>
          <a:bodyPr/>
          <a:lstStyle/>
          <a:p>
            <a:r>
              <a:rPr lang="en-US" dirty="0" smtClean="0"/>
              <a:t>Dr </a:t>
            </a:r>
            <a:r>
              <a:rPr lang="en-US" dirty="0" err="1" smtClean="0"/>
              <a:t>Rameshkumar</a:t>
            </a:r>
            <a:r>
              <a:rPr lang="en-US" dirty="0" smtClean="0"/>
              <a:t> A/AP Chemistry</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00B0F0"/>
                </a:solidFill>
                <a:effectLst>
                  <a:outerShdw blurRad="38100" dist="38100" dir="2700000" algn="tl">
                    <a:srgbClr val="000000">
                      <a:alpha val="43137"/>
                    </a:srgbClr>
                  </a:outerShdw>
                </a:effectLst>
              </a:rPr>
              <a:t>Radioactive Half Life Period:</a:t>
            </a:r>
            <a:endParaRPr lang="en-IN" dirty="0"/>
          </a:p>
        </p:txBody>
      </p:sp>
      <p:sp>
        <p:nvSpPr>
          <p:cNvPr id="3" name="Content Placeholder 2"/>
          <p:cNvSpPr>
            <a:spLocks noGrp="1"/>
          </p:cNvSpPr>
          <p:nvPr>
            <p:ph idx="1"/>
          </p:nvPr>
        </p:nvSpPr>
        <p:spPr/>
        <p:txBody>
          <a:bodyPr>
            <a:normAutofit fontScale="92500"/>
          </a:bodyPr>
          <a:lstStyle/>
          <a:p>
            <a:pPr algn="just">
              <a:lnSpc>
                <a:spcPct val="150000"/>
              </a:lnSpc>
            </a:pPr>
            <a:r>
              <a:rPr lang="en-IN" dirty="0">
                <a:latin typeface="Andalus" panose="02020603050405020304" pitchFamily="18" charset="-78"/>
                <a:cs typeface="Andalus" panose="02020603050405020304" pitchFamily="18" charset="-78"/>
              </a:rPr>
              <a:t>For cobalt-60, which has a half-life of 5.27 years, </a:t>
            </a:r>
            <a:r>
              <a:rPr lang="en-IN" dirty="0" smtClean="0">
                <a:latin typeface="Andalus" panose="02020603050405020304" pitchFamily="18" charset="-78"/>
                <a:cs typeface="Andalus" panose="02020603050405020304" pitchFamily="18" charset="-78"/>
              </a:rPr>
              <a:t>it takes </a:t>
            </a:r>
            <a:r>
              <a:rPr lang="en-IN" dirty="0">
                <a:latin typeface="Andalus" panose="02020603050405020304" pitchFamily="18" charset="-78"/>
                <a:cs typeface="Andalus" panose="02020603050405020304" pitchFamily="18" charset="-78"/>
              </a:rPr>
              <a:t>5.27 years (one half-life</a:t>
            </a:r>
            <a:r>
              <a:rPr lang="en-IN" dirty="0" smtClean="0">
                <a:latin typeface="Andalus" panose="02020603050405020304" pitchFamily="18" charset="-78"/>
                <a:cs typeface="Andalus" panose="02020603050405020304" pitchFamily="18" charset="-78"/>
              </a:rPr>
              <a:t>) to become 50%</a:t>
            </a:r>
          </a:p>
          <a:p>
            <a:pPr algn="just">
              <a:lnSpc>
                <a:spcPct val="150000"/>
              </a:lnSpc>
            </a:pPr>
            <a:r>
              <a:rPr lang="en-IN" dirty="0" smtClean="0">
                <a:latin typeface="Andalus" panose="02020603050405020304" pitchFamily="18" charset="-78"/>
                <a:cs typeface="Andalus" panose="02020603050405020304" pitchFamily="18" charset="-78"/>
              </a:rPr>
              <a:t>25</a:t>
            </a:r>
            <a:r>
              <a:rPr lang="en-IN" dirty="0">
                <a:latin typeface="Andalus" panose="02020603050405020304" pitchFamily="18" charset="-78"/>
                <a:cs typeface="Andalus" panose="02020603050405020304" pitchFamily="18" charset="-78"/>
              </a:rPr>
              <a:t>% remains after 10.54 years (two half-lives</a:t>
            </a:r>
            <a:r>
              <a:rPr lang="en-IN" dirty="0" smtClean="0">
                <a:latin typeface="Andalus" panose="02020603050405020304" pitchFamily="18" charset="-78"/>
                <a:cs typeface="Andalus" panose="02020603050405020304" pitchFamily="18" charset="-78"/>
              </a:rPr>
              <a:t>)</a:t>
            </a:r>
            <a:endParaRPr lang="en-IN" dirty="0">
              <a:latin typeface="Andalus" panose="02020603050405020304" pitchFamily="18" charset="-78"/>
              <a:cs typeface="Andalus" panose="02020603050405020304" pitchFamily="18" charset="-78"/>
            </a:endParaRPr>
          </a:p>
          <a:p>
            <a:pPr algn="just">
              <a:lnSpc>
                <a:spcPct val="150000"/>
              </a:lnSpc>
            </a:pPr>
            <a:r>
              <a:rPr lang="en-IN" dirty="0">
                <a:latin typeface="Andalus" panose="02020603050405020304" pitchFamily="18" charset="-78"/>
                <a:cs typeface="Andalus" panose="02020603050405020304" pitchFamily="18" charset="-78"/>
              </a:rPr>
              <a:t>12.5% remains after 15.81 years (three half-lives), and so on. </a:t>
            </a:r>
            <a:endParaRPr lang="en-IN" dirty="0" smtClean="0">
              <a:latin typeface="Andalus" panose="02020603050405020304" pitchFamily="18" charset="-78"/>
              <a:cs typeface="Andalus" panose="02020603050405020304" pitchFamily="18" charset="-78"/>
            </a:endParaRPr>
          </a:p>
          <a:p>
            <a:pPr algn="just">
              <a:lnSpc>
                <a:spcPct val="150000"/>
              </a:lnSpc>
            </a:pPr>
            <a:r>
              <a:rPr lang="en-IN" dirty="0" smtClean="0">
                <a:latin typeface="Andalus" panose="02020603050405020304" pitchFamily="18" charset="-78"/>
                <a:cs typeface="Andalus" panose="02020603050405020304" pitchFamily="18" charset="-78"/>
              </a:rPr>
              <a:t>Note </a:t>
            </a:r>
            <a:r>
              <a:rPr lang="en-IN" dirty="0">
                <a:latin typeface="Andalus" panose="02020603050405020304" pitchFamily="18" charset="-78"/>
                <a:cs typeface="Andalus" panose="02020603050405020304" pitchFamily="18" charset="-78"/>
              </a:rPr>
              <a:t>that every half-life </a:t>
            </a:r>
            <a:r>
              <a:rPr lang="en-IN" dirty="0" smtClean="0">
                <a:latin typeface="Andalus" panose="02020603050405020304" pitchFamily="18" charset="-78"/>
                <a:cs typeface="Andalus" panose="02020603050405020304" pitchFamily="18" charset="-78"/>
              </a:rPr>
              <a:t>is the </a:t>
            </a:r>
            <a:r>
              <a:rPr lang="en-IN" dirty="0">
                <a:latin typeface="Andalus" panose="02020603050405020304" pitchFamily="18" charset="-78"/>
                <a:cs typeface="Andalus" panose="02020603050405020304" pitchFamily="18" charset="-78"/>
              </a:rPr>
              <a:t>same length of time</a:t>
            </a:r>
            <a:r>
              <a:rPr lang="en-IN" dirty="0" smtClean="0">
                <a:latin typeface="Andalus" panose="02020603050405020304" pitchFamily="18" charset="-78"/>
                <a:cs typeface="Andalus" panose="02020603050405020304" pitchFamily="18" charset="-78"/>
              </a:rPr>
              <a:t>.</a:t>
            </a:r>
            <a:endParaRPr lang="en-IN"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7181541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00B0F0"/>
                </a:solidFill>
                <a:effectLst>
                  <a:outerShdw blurRad="38100" dist="38100" dir="2700000" algn="tl">
                    <a:srgbClr val="000000">
                      <a:alpha val="43137"/>
                    </a:srgbClr>
                  </a:outerShdw>
                </a:effectLst>
              </a:rPr>
              <a:t>Radioactive Half Life Period:</a:t>
            </a:r>
            <a:endParaRPr lang="en-IN" dirty="0"/>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51720" y="1153681"/>
            <a:ext cx="4762847" cy="39898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281356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00B0F0"/>
                </a:solidFill>
                <a:effectLst>
                  <a:outerShdw blurRad="38100" dist="38100" dir="2700000" algn="tl">
                    <a:srgbClr val="000000">
                      <a:alpha val="43137"/>
                    </a:srgbClr>
                  </a:outerShdw>
                </a:effectLst>
              </a:rPr>
              <a:t>Radioactive Half Life Period:</a:t>
            </a:r>
            <a:endParaRPr lang="en-IN"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851670"/>
            <a:ext cx="7848872" cy="120621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7880379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64554"/>
            <a:ext cx="7532340" cy="857250"/>
          </a:xfrm>
        </p:spPr>
        <p:txBody>
          <a:bodyPr>
            <a:normAutofit fontScale="90000"/>
          </a:bodyPr>
          <a:lstStyle/>
          <a:p>
            <a:r>
              <a:rPr lang="en-IN" dirty="0">
                <a:solidFill>
                  <a:srgbClr val="00B0F0"/>
                </a:solidFill>
                <a:effectLst>
                  <a:outerShdw blurRad="38100" dist="38100" dir="2700000" algn="tl">
                    <a:srgbClr val="000000">
                      <a:alpha val="43137"/>
                    </a:srgbClr>
                  </a:outerShdw>
                </a:effectLst>
              </a:rPr>
              <a:t>EFFECTS OF RADIATION EXPOSURE:</a:t>
            </a:r>
          </a:p>
        </p:txBody>
      </p:sp>
      <p:sp>
        <p:nvSpPr>
          <p:cNvPr id="4" name="Content Placeholder 3"/>
          <p:cNvSpPr>
            <a:spLocks noGrp="1"/>
          </p:cNvSpPr>
          <p:nvPr>
            <p:ph idx="1"/>
          </p:nvPr>
        </p:nvSpPr>
        <p:spPr>
          <a:xfrm>
            <a:off x="179512" y="699542"/>
            <a:ext cx="7892950" cy="4142260"/>
          </a:xfrm>
        </p:spPr>
        <p:txBody>
          <a:bodyPr>
            <a:normAutofit fontScale="70000" lnSpcReduction="20000"/>
          </a:bodyPr>
          <a:lstStyle/>
          <a:p>
            <a:pPr algn="just">
              <a:lnSpc>
                <a:spcPct val="170000"/>
              </a:lnSpc>
            </a:pPr>
            <a:r>
              <a:rPr lang="en-IN" dirty="0" smtClean="0">
                <a:latin typeface="Andalus" panose="02020603050405020304" pitchFamily="18" charset="-78"/>
                <a:cs typeface="Andalus" panose="02020603050405020304" pitchFamily="18" charset="-78"/>
              </a:rPr>
              <a:t>Ionizing radiation </a:t>
            </a:r>
            <a:r>
              <a:rPr lang="en-IN" dirty="0">
                <a:latin typeface="Andalus" panose="02020603050405020304" pitchFamily="18" charset="-78"/>
                <a:cs typeface="Andalus" panose="02020603050405020304" pitchFamily="18" charset="-78"/>
              </a:rPr>
              <a:t>may cause </a:t>
            </a:r>
            <a:r>
              <a:rPr lang="en-IN" dirty="0" smtClean="0">
                <a:latin typeface="Andalus" panose="02020603050405020304" pitchFamily="18" charset="-78"/>
                <a:cs typeface="Andalus" panose="02020603050405020304" pitchFamily="18" charset="-78"/>
              </a:rPr>
              <a:t>severe </a:t>
            </a:r>
            <a:r>
              <a:rPr lang="en-IN" dirty="0">
                <a:latin typeface="Andalus" panose="02020603050405020304" pitchFamily="18" charset="-78"/>
                <a:cs typeface="Andalus" panose="02020603050405020304" pitchFamily="18" charset="-78"/>
              </a:rPr>
              <a:t>damage </a:t>
            </a:r>
            <a:r>
              <a:rPr lang="en-IN" b="1" dirty="0" smtClean="0">
                <a:solidFill>
                  <a:srgbClr val="FF0000"/>
                </a:solidFill>
                <a:latin typeface="Andalus" panose="02020603050405020304" pitchFamily="18" charset="-78"/>
                <a:cs typeface="Andalus" panose="02020603050405020304" pitchFamily="18" charset="-78"/>
              </a:rPr>
              <a:t>by breaking </a:t>
            </a:r>
            <a:r>
              <a:rPr lang="en-IN" b="1" dirty="0">
                <a:solidFill>
                  <a:srgbClr val="FF0000"/>
                </a:solidFill>
                <a:latin typeface="Andalus" panose="02020603050405020304" pitchFamily="18" charset="-78"/>
                <a:cs typeface="Andalus" panose="02020603050405020304" pitchFamily="18" charset="-78"/>
              </a:rPr>
              <a:t>bonds or removing electrons in biological molecules</a:t>
            </a:r>
            <a:r>
              <a:rPr lang="en-IN" dirty="0">
                <a:latin typeface="Andalus" panose="02020603050405020304" pitchFamily="18" charset="-78"/>
                <a:cs typeface="Andalus" panose="02020603050405020304" pitchFamily="18" charset="-78"/>
              </a:rPr>
              <a:t>, disrupting their </a:t>
            </a:r>
            <a:r>
              <a:rPr lang="en-IN" dirty="0" smtClean="0">
                <a:latin typeface="Andalus" panose="02020603050405020304" pitchFamily="18" charset="-78"/>
                <a:cs typeface="Andalus" panose="02020603050405020304" pitchFamily="18" charset="-78"/>
              </a:rPr>
              <a:t>structure and </a:t>
            </a:r>
            <a:r>
              <a:rPr lang="en-IN" dirty="0">
                <a:latin typeface="Andalus" panose="02020603050405020304" pitchFamily="18" charset="-78"/>
                <a:cs typeface="Andalus" panose="02020603050405020304" pitchFamily="18" charset="-78"/>
              </a:rPr>
              <a:t>function. </a:t>
            </a:r>
            <a:endParaRPr lang="en-IN" dirty="0" smtClean="0">
              <a:latin typeface="Andalus" panose="02020603050405020304" pitchFamily="18" charset="-78"/>
              <a:cs typeface="Andalus" panose="02020603050405020304" pitchFamily="18" charset="-78"/>
            </a:endParaRPr>
          </a:p>
          <a:p>
            <a:pPr algn="just">
              <a:lnSpc>
                <a:spcPct val="170000"/>
              </a:lnSpc>
            </a:pPr>
            <a:r>
              <a:rPr lang="en-IN" dirty="0" smtClean="0">
                <a:latin typeface="Andalus" panose="02020603050405020304" pitchFamily="18" charset="-78"/>
                <a:cs typeface="Andalus" panose="02020603050405020304" pitchFamily="18" charset="-78"/>
              </a:rPr>
              <a:t>Radiation </a:t>
            </a:r>
            <a:r>
              <a:rPr lang="en-IN" dirty="0">
                <a:latin typeface="Andalus" panose="02020603050405020304" pitchFamily="18" charset="-78"/>
                <a:cs typeface="Andalus" panose="02020603050405020304" pitchFamily="18" charset="-78"/>
              </a:rPr>
              <a:t>can harm either the whole body (somatic damage) or eggs </a:t>
            </a:r>
            <a:r>
              <a:rPr lang="en-IN" dirty="0" smtClean="0">
                <a:latin typeface="Andalus" panose="02020603050405020304" pitchFamily="18" charset="-78"/>
                <a:cs typeface="Andalus" panose="02020603050405020304" pitchFamily="18" charset="-78"/>
              </a:rPr>
              <a:t>and sperm </a:t>
            </a:r>
            <a:r>
              <a:rPr lang="en-IN" dirty="0">
                <a:latin typeface="Andalus" panose="02020603050405020304" pitchFamily="18" charset="-78"/>
                <a:cs typeface="Andalus" panose="02020603050405020304" pitchFamily="18" charset="-78"/>
              </a:rPr>
              <a:t>(genetic damage). </a:t>
            </a:r>
            <a:endParaRPr lang="en-IN" dirty="0" smtClean="0">
              <a:latin typeface="Andalus" panose="02020603050405020304" pitchFamily="18" charset="-78"/>
              <a:cs typeface="Andalus" panose="02020603050405020304" pitchFamily="18" charset="-78"/>
            </a:endParaRPr>
          </a:p>
          <a:p>
            <a:pPr algn="just">
              <a:lnSpc>
                <a:spcPct val="170000"/>
              </a:lnSpc>
            </a:pPr>
            <a:r>
              <a:rPr lang="en-IN" dirty="0" smtClean="0">
                <a:latin typeface="Andalus" panose="02020603050405020304" pitchFamily="18" charset="-78"/>
                <a:cs typeface="Andalus" panose="02020603050405020304" pitchFamily="18" charset="-78"/>
              </a:rPr>
              <a:t>Its </a:t>
            </a:r>
            <a:r>
              <a:rPr lang="en-IN" b="1" dirty="0">
                <a:solidFill>
                  <a:srgbClr val="FF0000"/>
                </a:solidFill>
                <a:latin typeface="Andalus" panose="02020603050405020304" pitchFamily="18" charset="-78"/>
                <a:cs typeface="Andalus" panose="02020603050405020304" pitchFamily="18" charset="-78"/>
              </a:rPr>
              <a:t>effects are more pronounced in cells that reproduce rapidly</a:t>
            </a:r>
            <a:r>
              <a:rPr lang="en-IN" dirty="0" smtClean="0">
                <a:latin typeface="Andalus" panose="02020603050405020304" pitchFamily="18" charset="-78"/>
                <a:cs typeface="Andalus" panose="02020603050405020304" pitchFamily="18" charset="-78"/>
              </a:rPr>
              <a:t>, such </a:t>
            </a:r>
            <a:r>
              <a:rPr lang="en-IN" dirty="0">
                <a:latin typeface="Andalus" panose="02020603050405020304" pitchFamily="18" charset="-78"/>
                <a:cs typeface="Andalus" panose="02020603050405020304" pitchFamily="18" charset="-78"/>
              </a:rPr>
              <a:t>as the stomach lining, hair follicles, bone marrow, and embryos. </a:t>
            </a:r>
            <a:endParaRPr lang="en-IN" dirty="0" smtClean="0">
              <a:latin typeface="Andalus" panose="02020603050405020304" pitchFamily="18" charset="-78"/>
              <a:cs typeface="Andalus" panose="02020603050405020304" pitchFamily="18" charset="-78"/>
            </a:endParaRPr>
          </a:p>
          <a:p>
            <a:pPr algn="just">
              <a:lnSpc>
                <a:spcPct val="170000"/>
              </a:lnSpc>
            </a:pPr>
            <a:r>
              <a:rPr lang="en-IN" dirty="0" smtClean="0">
                <a:latin typeface="Andalus" panose="02020603050405020304" pitchFamily="18" charset="-78"/>
                <a:cs typeface="Andalus" panose="02020603050405020304" pitchFamily="18" charset="-78"/>
              </a:rPr>
              <a:t>This </a:t>
            </a:r>
            <a:r>
              <a:rPr lang="en-IN" dirty="0">
                <a:latin typeface="Andalus" panose="02020603050405020304" pitchFamily="18" charset="-78"/>
                <a:cs typeface="Andalus" panose="02020603050405020304" pitchFamily="18" charset="-78"/>
              </a:rPr>
              <a:t>is why </a:t>
            </a:r>
            <a:r>
              <a:rPr lang="en-IN" dirty="0" smtClean="0">
                <a:latin typeface="Andalus" panose="02020603050405020304" pitchFamily="18" charset="-78"/>
                <a:cs typeface="Andalus" panose="02020603050405020304" pitchFamily="18" charset="-78"/>
              </a:rPr>
              <a:t>patients undergoing </a:t>
            </a:r>
            <a:r>
              <a:rPr lang="en-IN" dirty="0">
                <a:latin typeface="Andalus" panose="02020603050405020304" pitchFamily="18" charset="-78"/>
                <a:cs typeface="Andalus" panose="02020603050405020304" pitchFamily="18" charset="-78"/>
              </a:rPr>
              <a:t>radiation therapy often feel nauseous or sick to their stomach, lose hair, </a:t>
            </a:r>
            <a:r>
              <a:rPr lang="en-IN" dirty="0" smtClean="0">
                <a:latin typeface="Andalus" panose="02020603050405020304" pitchFamily="18" charset="-78"/>
                <a:cs typeface="Andalus" panose="02020603050405020304" pitchFamily="18" charset="-78"/>
              </a:rPr>
              <a:t>have bone </a:t>
            </a:r>
            <a:r>
              <a:rPr lang="en-IN" dirty="0">
                <a:latin typeface="Andalus" panose="02020603050405020304" pitchFamily="18" charset="-78"/>
                <a:cs typeface="Andalus" panose="02020603050405020304" pitchFamily="18" charset="-78"/>
              </a:rPr>
              <a:t>aches, and so on, and why particular care must be taken when undergoing </a:t>
            </a:r>
            <a:r>
              <a:rPr lang="en-IN" dirty="0" smtClean="0">
                <a:latin typeface="Andalus" panose="02020603050405020304" pitchFamily="18" charset="-78"/>
                <a:cs typeface="Andalus" panose="02020603050405020304" pitchFamily="18" charset="-78"/>
              </a:rPr>
              <a:t>radiation therapy </a:t>
            </a:r>
            <a:r>
              <a:rPr lang="en-IN" dirty="0">
                <a:latin typeface="Andalus" panose="02020603050405020304" pitchFamily="18" charset="-78"/>
                <a:cs typeface="Andalus" panose="02020603050405020304" pitchFamily="18" charset="-78"/>
              </a:rPr>
              <a:t>during </a:t>
            </a:r>
            <a:r>
              <a:rPr lang="en-IN" dirty="0" smtClean="0">
                <a:latin typeface="Andalus" panose="02020603050405020304" pitchFamily="18" charset="-78"/>
                <a:cs typeface="Andalus" panose="02020603050405020304" pitchFamily="18" charset="-78"/>
              </a:rPr>
              <a:t>pregnancy.</a:t>
            </a:r>
            <a:endParaRPr lang="en-IN" b="1"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extLst>
      <p:ext uri="{BB962C8B-B14F-4D97-AF65-F5344CB8AC3E}">
        <p14:creationId xmlns:p14="http://schemas.microsoft.com/office/powerpoint/2010/main" xmlns="" val="16339908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40030"/>
            <a:ext cx="753234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fontScale="70000" lnSpcReduction="20000"/>
          </a:bodyPr>
          <a:lstStyle/>
          <a:p>
            <a:pPr algn="just">
              <a:lnSpc>
                <a:spcPct val="150000"/>
              </a:lnSpc>
            </a:pPr>
            <a:r>
              <a:rPr lang="en-IN" dirty="0">
                <a:latin typeface="Andalus" pitchFamily="18" charset="-78"/>
                <a:cs typeface="Andalus" pitchFamily="18" charset="-78"/>
              </a:rPr>
              <a:t>The wear of </a:t>
            </a:r>
            <a:r>
              <a:rPr lang="en-IN" dirty="0" smtClean="0">
                <a:latin typeface="Andalus" pitchFamily="18" charset="-78"/>
                <a:cs typeface="Andalus" pitchFamily="18" charset="-78"/>
              </a:rPr>
              <a:t>surfaces, </a:t>
            </a:r>
            <a:r>
              <a:rPr lang="en-IN" dirty="0">
                <a:latin typeface="Andalus" pitchFamily="18" charset="-78"/>
                <a:cs typeface="Andalus" pitchFamily="18" charset="-78"/>
              </a:rPr>
              <a:t>e.g. of piston rings and of gears in engines, and its prevention </a:t>
            </a:r>
            <a:r>
              <a:rPr lang="en-IN" dirty="0" smtClean="0">
                <a:latin typeface="Andalus" pitchFamily="18" charset="-78"/>
                <a:cs typeface="Andalus" pitchFamily="18" charset="-78"/>
              </a:rPr>
              <a:t>by means </a:t>
            </a:r>
            <a:r>
              <a:rPr lang="en-IN" dirty="0">
                <a:latin typeface="Andalus" pitchFamily="18" charset="-78"/>
                <a:cs typeface="Andalus" pitchFamily="18" charset="-78"/>
              </a:rPr>
              <a:t>of suitable lubricants have been </a:t>
            </a:r>
            <a:r>
              <a:rPr lang="en-IN" dirty="0" smtClean="0">
                <a:latin typeface="Andalus" pitchFamily="18" charset="-78"/>
                <a:cs typeface="Andalus" pitchFamily="18" charset="-78"/>
              </a:rPr>
              <a:t>studied.</a:t>
            </a:r>
          </a:p>
          <a:p>
            <a:pPr algn="just">
              <a:lnSpc>
                <a:spcPct val="150000"/>
              </a:lnSpc>
            </a:pPr>
            <a:r>
              <a:rPr lang="en-IN" dirty="0" smtClean="0">
                <a:latin typeface="Andalus" pitchFamily="18" charset="-78"/>
                <a:cs typeface="Andalus" pitchFamily="18" charset="-78"/>
              </a:rPr>
              <a:t>To study </a:t>
            </a:r>
            <a:r>
              <a:rPr lang="en-IN" dirty="0">
                <a:latin typeface="Andalus" pitchFamily="18" charset="-78"/>
                <a:cs typeface="Andalus" pitchFamily="18" charset="-78"/>
              </a:rPr>
              <a:t>age-hardening, annealing, quenching, and cold </a:t>
            </a:r>
            <a:r>
              <a:rPr lang="en-IN" dirty="0" smtClean="0">
                <a:latin typeface="Andalus" pitchFamily="18" charset="-78"/>
                <a:cs typeface="Andalus" pitchFamily="18" charset="-78"/>
              </a:rPr>
              <a:t>rolling in metals.</a:t>
            </a:r>
          </a:p>
          <a:p>
            <a:pPr algn="just">
              <a:lnSpc>
                <a:spcPct val="150000"/>
              </a:lnSpc>
            </a:pPr>
            <a:r>
              <a:rPr lang="en-IN" dirty="0">
                <a:latin typeface="Andalus" pitchFamily="18" charset="-78"/>
                <a:cs typeface="Andalus" pitchFamily="18" charset="-78"/>
              </a:rPr>
              <a:t>The phenomenon of self-diffusion in a metal i.e. the movement of the atoms of </a:t>
            </a:r>
            <a:r>
              <a:rPr lang="en-IN" dirty="0" smtClean="0">
                <a:latin typeface="Andalus" pitchFamily="18" charset="-78"/>
                <a:cs typeface="Andalus" pitchFamily="18" charset="-78"/>
              </a:rPr>
              <a:t>a metal </a:t>
            </a:r>
            <a:r>
              <a:rPr lang="en-IN" dirty="0">
                <a:latin typeface="Andalus" pitchFamily="18" charset="-78"/>
                <a:cs typeface="Andalus" pitchFamily="18" charset="-78"/>
              </a:rPr>
              <a:t>within the crystal lattice is determined with the help of radioactive </a:t>
            </a:r>
            <a:r>
              <a:rPr lang="en-IN" dirty="0" smtClean="0">
                <a:latin typeface="Andalus" pitchFamily="18" charset="-78"/>
                <a:cs typeface="Andalus" pitchFamily="18" charset="-78"/>
              </a:rPr>
              <a:t>traces.</a:t>
            </a:r>
          </a:p>
          <a:p>
            <a:pPr algn="just">
              <a:lnSpc>
                <a:spcPct val="150000"/>
              </a:lnSpc>
            </a:pPr>
            <a:r>
              <a:rPr lang="en-IN" dirty="0">
                <a:latin typeface="Andalus" pitchFamily="18" charset="-78"/>
                <a:cs typeface="Andalus" pitchFamily="18" charset="-78"/>
              </a:rPr>
              <a:t>Radioactive tracers also provide a convenient means for detecting leaks, especially </a:t>
            </a:r>
            <a:r>
              <a:rPr lang="en-IN" dirty="0" smtClean="0">
                <a:latin typeface="Andalus" pitchFamily="18" charset="-78"/>
                <a:cs typeface="Andalus" pitchFamily="18" charset="-78"/>
              </a:rPr>
              <a:t>in buried </a:t>
            </a:r>
            <a:r>
              <a:rPr lang="en-IN" dirty="0">
                <a:latin typeface="Andalus" pitchFamily="18" charset="-78"/>
                <a:cs typeface="Andalus" pitchFamily="18" charset="-78"/>
              </a:rPr>
              <a:t>pipes carrying water or petroleum</a:t>
            </a:r>
            <a:endParaRPr lang="en-IN"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40030"/>
            <a:ext cx="7532340" cy="857250"/>
          </a:xfrm>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 medicine</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a:t>Circulation of </a:t>
            </a:r>
            <a:r>
              <a:rPr lang="en-IN" dirty="0" smtClean="0"/>
              <a:t>blood.</a:t>
            </a:r>
          </a:p>
          <a:p>
            <a:pPr algn="just">
              <a:lnSpc>
                <a:spcPct val="150000"/>
              </a:lnSpc>
            </a:pPr>
            <a:r>
              <a:rPr lang="en-IN" dirty="0"/>
              <a:t>Goitre (Thyroiditis</a:t>
            </a:r>
            <a:r>
              <a:rPr lang="en-IN" dirty="0" smtClean="0"/>
              <a:t>)</a:t>
            </a:r>
          </a:p>
          <a:p>
            <a:pPr algn="just">
              <a:lnSpc>
                <a:spcPct val="150000"/>
              </a:lnSpc>
            </a:pPr>
            <a:r>
              <a:rPr lang="en-IN" dirty="0"/>
              <a:t>Brain Tumour </a:t>
            </a:r>
            <a:r>
              <a:rPr lang="en-IN" dirty="0" smtClean="0"/>
              <a:t>Location</a:t>
            </a:r>
          </a:p>
          <a:p>
            <a:pPr algn="just">
              <a:lnSpc>
                <a:spcPct val="150000"/>
              </a:lnSpc>
            </a:pPr>
            <a:r>
              <a:rPr lang="en-IN" dirty="0"/>
              <a:t>Treatment of blood abnormalities</a:t>
            </a:r>
            <a:endParaRPr lang="en-IN" b="1"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extLst>
      <p:ext uri="{BB962C8B-B14F-4D97-AF65-F5344CB8AC3E}">
        <p14:creationId xmlns:p14="http://schemas.microsoft.com/office/powerpoint/2010/main" xmlns="" val="346945308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4577</TotalTime>
  <Words>929</Words>
  <Application>Microsoft Office PowerPoint</Application>
  <PresentationFormat>On-screen Show (16:9)</PresentationFormat>
  <Paragraphs>84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Opulent</vt:lpstr>
      <vt:lpstr>ENGINEERING CHEMISTRY - II</vt:lpstr>
      <vt:lpstr>Radioactive decay</vt:lpstr>
      <vt:lpstr>Alpha particle emission</vt:lpstr>
      <vt:lpstr>Alpha particle emission</vt:lpstr>
      <vt:lpstr>beta particle emission</vt:lpstr>
      <vt:lpstr>beta particle emission</vt:lpstr>
      <vt:lpstr>Gamma Radiation </vt:lpstr>
      <vt:lpstr>Gamma Radiation </vt:lpstr>
      <vt:lpstr>Penetrating power </vt:lpstr>
      <vt:lpstr>Summary</vt:lpstr>
      <vt:lpstr>Positron Emission </vt:lpstr>
      <vt:lpstr>Positron Emission </vt:lpstr>
      <vt:lpstr>Electron capture</vt:lpstr>
      <vt:lpstr>Slide 14</vt:lpstr>
      <vt:lpstr>Radioactive Half Life Period:</vt:lpstr>
      <vt:lpstr>Radioactive Half Life Period:</vt:lpstr>
      <vt:lpstr>Radioactive Half Life Period:</vt:lpstr>
      <vt:lpstr>Radioactive Half Life Period:</vt:lpstr>
      <vt:lpstr>EFFECTS OF RADIATION EXPOSURE:</vt:lpstr>
      <vt:lpstr>Applications</vt:lpstr>
      <vt:lpstr>Applications - medicine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CHEMISTRY - I</dc:title>
  <dc:creator>trc</dc:creator>
  <cp:lastModifiedBy>Acer</cp:lastModifiedBy>
  <cp:revision>825</cp:revision>
  <dcterms:created xsi:type="dcterms:W3CDTF">2020-12-21T10:35:25Z</dcterms:created>
  <dcterms:modified xsi:type="dcterms:W3CDTF">2025-05-20T02:00:33Z</dcterms:modified>
</cp:coreProperties>
</file>