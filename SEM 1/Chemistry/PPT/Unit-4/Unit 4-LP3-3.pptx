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22"/>
  </p:notesMasterIdLst>
  <p:sldIdLst>
    <p:sldId id="256" r:id="rId2"/>
    <p:sldId id="290" r:id="rId3"/>
    <p:sldId id="329" r:id="rId4"/>
    <p:sldId id="315" r:id="rId5"/>
    <p:sldId id="328" r:id="rId6"/>
    <p:sldId id="316" r:id="rId7"/>
    <p:sldId id="318" r:id="rId8"/>
    <p:sldId id="336" r:id="rId9"/>
    <p:sldId id="319" r:id="rId10"/>
    <p:sldId id="339" r:id="rId11"/>
    <p:sldId id="340" r:id="rId12"/>
    <p:sldId id="320" r:id="rId13"/>
    <p:sldId id="341" r:id="rId14"/>
    <p:sldId id="342" r:id="rId15"/>
    <p:sldId id="343" r:id="rId16"/>
    <p:sldId id="324" r:id="rId17"/>
    <p:sldId id="350" r:id="rId18"/>
    <p:sldId id="349" r:id="rId19"/>
    <p:sldId id="351" r:id="rId20"/>
    <p:sldId id="352" r:id="rId2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1" d="100"/>
          <a:sy n="81" d="100"/>
        </p:scale>
        <p:origin x="-972" y="-162"/>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78032D-864A-4EB9-9DCF-4F8E0BF35B43}" type="datetimeFigureOut">
              <a:rPr lang="en-US" smtClean="0"/>
              <a:pPr/>
              <a:t>5/12/2025</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3AF5D2-FC72-47CA-9A01-1D2294AB6E51}" type="slidenum">
              <a:rPr lang="en-IN" smtClean="0"/>
              <a:pPr/>
              <a:t>‹#›</a:t>
            </a:fld>
            <a:endParaRPr lang="en-IN"/>
          </a:p>
        </p:txBody>
      </p:sp>
    </p:spTree>
    <p:extLst>
      <p:ext uri="{BB962C8B-B14F-4D97-AF65-F5344CB8AC3E}">
        <p14:creationId xmlns:p14="http://schemas.microsoft.com/office/powerpoint/2010/main" xmlns="" val="3581252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51435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95250" y="2571750"/>
            <a:ext cx="51435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3366868" y="400050"/>
            <a:ext cx="5105400" cy="2151126"/>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2654898"/>
            <a:ext cx="5114778" cy="825936"/>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4918459"/>
            <a:ext cx="2002464" cy="170177"/>
          </a:xfrm>
        </p:spPr>
        <p:txBody>
          <a:bodyPr/>
          <a:lstStyle>
            <a:lvl1pPr>
              <a:defRPr lang="en-US" smtClean="0">
                <a:solidFill>
                  <a:srgbClr val="FFFFFF"/>
                </a:solidFill>
              </a:defRPr>
            </a:lvl1pPr>
            <a:extLst/>
          </a:lstStyle>
          <a:p>
            <a:fld id="{BF0DE94B-9ECB-4479-B6C6-6ED3999FA8C4}" type="datetimeFigureOut">
              <a:rPr lang="en-US" smtClean="0"/>
              <a:pPr/>
              <a:t>5/12/2025</a:t>
            </a:fld>
            <a:endParaRPr lang="en-US"/>
          </a:p>
        </p:txBody>
      </p:sp>
      <p:sp>
        <p:nvSpPr>
          <p:cNvPr id="18" name="Footer Placeholder 17"/>
          <p:cNvSpPr>
            <a:spLocks noGrp="1"/>
          </p:cNvSpPr>
          <p:nvPr>
            <p:ph type="ftr" sz="quarter" idx="11"/>
          </p:nvPr>
        </p:nvSpPr>
        <p:spPr>
          <a:xfrm>
            <a:off x="2819400" y="4918460"/>
            <a:ext cx="2927722" cy="17145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4917186"/>
            <a:ext cx="588336" cy="171450"/>
          </a:xfrm>
        </p:spPr>
        <p:txBody>
          <a:bodyPr/>
          <a:lstStyle>
            <a:lvl1pPr>
              <a:defRPr lang="en-US" smtClean="0">
                <a:solidFill>
                  <a:srgbClr val="FFFFFF"/>
                </a:solidFill>
              </a:defRPr>
            </a:lvl1pPr>
            <a:extLst/>
          </a:lstStyle>
          <a:p>
            <a:fld id="{E004422E-EDD2-4B0B-A52B-28308297B27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F0DE94B-9ECB-4479-B6C6-6ED3999FA8C4}" type="datetimeFigureOut">
              <a:rPr lang="en-US" smtClean="0"/>
              <a:pPr/>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116378"/>
            <a:ext cx="6255488" cy="1021556"/>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428751"/>
            <a:ext cx="6255488" cy="557630"/>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4917607"/>
            <a:ext cx="2002464" cy="170177"/>
          </a:xfrm>
        </p:spPr>
        <p:txBody>
          <a:bodyPr bIns="0" anchor="b"/>
          <a:lstStyle>
            <a:lvl1pPr>
              <a:defRPr>
                <a:solidFill>
                  <a:schemeClr val="tx2"/>
                </a:solidFill>
              </a:defRPr>
            </a:lvl1pPr>
            <a:extLst/>
          </a:lstStyle>
          <a:p>
            <a:fld id="{BF0DE94B-9ECB-4479-B6C6-6ED3999FA8C4}" type="datetimeFigureOut">
              <a:rPr lang="en-US" smtClean="0"/>
              <a:pPr/>
              <a:t>5/12/2025</a:t>
            </a:fld>
            <a:endParaRPr lang="en-US"/>
          </a:p>
        </p:txBody>
      </p:sp>
      <p:sp>
        <p:nvSpPr>
          <p:cNvPr id="5" name="Footer Placeholder 4"/>
          <p:cNvSpPr>
            <a:spLocks noGrp="1"/>
          </p:cNvSpPr>
          <p:nvPr>
            <p:ph type="ftr" sz="quarter" idx="11"/>
          </p:nvPr>
        </p:nvSpPr>
        <p:spPr>
          <a:xfrm>
            <a:off x="1735358" y="4917608"/>
            <a:ext cx="2895600" cy="17145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4916334"/>
            <a:ext cx="588336" cy="171450"/>
          </a:xfrm>
        </p:spPr>
        <p:txBody>
          <a:bodyPr/>
          <a:lstStyle/>
          <a:p>
            <a:fld id="{E004422E-EDD2-4B0B-A52B-28308297B27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200151"/>
            <a:ext cx="3520440" cy="3394472"/>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200151"/>
            <a:ext cx="3520440" cy="3394472"/>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F0DE94B-9ECB-4479-B6C6-6ED3999FA8C4}" type="datetimeFigureOut">
              <a:rPr lang="en-US" smtClean="0"/>
              <a:pPr/>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4400550"/>
            <a:ext cx="3520440" cy="3429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4400550"/>
            <a:ext cx="3520440" cy="3429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283880"/>
            <a:ext cx="3520440" cy="30861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283880"/>
            <a:ext cx="3520440" cy="30861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BF0DE94B-9ECB-4479-B6C6-6ED3999FA8C4}" type="datetimeFigureOut">
              <a:rPr lang="en-US" smtClean="0"/>
              <a:pPr/>
              <a:t>5/12/2025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BF0DE94B-9ECB-4479-B6C6-6ED3999FA8C4}" type="datetimeFigureOut">
              <a:rPr lang="en-US" smtClean="0"/>
              <a:pPr/>
              <a:t>5/12/2025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BF0DE94B-9ECB-4479-B6C6-6ED3999FA8C4}" type="datetimeFigureOut">
              <a:rPr lang="en-US" smtClean="0"/>
              <a:pPr/>
              <a:t>5/12/2025</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5897880" cy="88011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123062"/>
            <a:ext cx="5897880" cy="451884"/>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600200"/>
            <a:ext cx="7239000" cy="3278814"/>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F0DE94B-9ECB-4479-B6C6-6ED3999FA8C4}" type="datetimeFigureOut">
              <a:rPr lang="en-US" smtClean="0"/>
              <a:pPr/>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9" y="753501"/>
            <a:ext cx="4319527" cy="3234430"/>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596706" y="749112"/>
            <a:ext cx="4319527" cy="3234430"/>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5389098" y="857250"/>
            <a:ext cx="3429000" cy="154305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2462726"/>
            <a:ext cx="3429000" cy="144018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p>
            <a:fld id="{BF0DE94B-9ECB-4479-B6C6-6ED3999FA8C4}" type="datetimeFigureOut">
              <a:rPr lang="en-US" smtClean="0"/>
              <a:pPr/>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04422E-EDD2-4B0B-A52B-28308297B27A}" type="slidenum">
              <a:rPr lang="en-US" smtClean="0"/>
              <a:pPr/>
              <a:t>‹#›</a:t>
            </a:fld>
            <a:endParaRPr lang="en-US"/>
          </a:p>
        </p:txBody>
      </p:sp>
      <p:sp>
        <p:nvSpPr>
          <p:cNvPr id="10" name="Picture Placeholder 9"/>
          <p:cNvSpPr>
            <a:spLocks noGrp="1"/>
          </p:cNvSpPr>
          <p:nvPr>
            <p:ph type="pic" idx="1"/>
          </p:nvPr>
        </p:nvSpPr>
        <p:spPr>
          <a:xfrm>
            <a:off x="663682" y="780752"/>
            <a:ext cx="4206240" cy="315468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F0DE94B-9ECB-4479-B6C6-6ED3999FA8C4}" type="datetimeFigureOut">
              <a:rPr lang="en-US" smtClean="0"/>
              <a:pPr/>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04422E-EDD2-4B0B-A52B-28308297B27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06217"/>
            <a:ext cx="1524000" cy="4388644"/>
          </a:xfrm>
        </p:spPr>
        <p:txBody>
          <a:bodyPr vert="eaVert" ancho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82"/>
            <a:ext cx="6019800" cy="438864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4918459"/>
            <a:ext cx="2002464" cy="170177"/>
          </a:xfrm>
        </p:spPr>
        <p:txBody>
          <a:bodyPr/>
          <a:lstStyle/>
          <a:p>
            <a:fld id="{BF0DE94B-9ECB-4479-B6C6-6ED3999FA8C4}" type="datetimeFigureOut">
              <a:rPr lang="en-US" smtClean="0"/>
              <a:pPr/>
              <a:t>5/12/2025</a:t>
            </a:fld>
            <a:endParaRPr lang="en-US"/>
          </a:p>
        </p:txBody>
      </p:sp>
      <p:sp>
        <p:nvSpPr>
          <p:cNvPr id="5" name="Footer Placeholder 4"/>
          <p:cNvSpPr>
            <a:spLocks noGrp="1"/>
          </p:cNvSpPr>
          <p:nvPr>
            <p:ph type="ftr" sz="quarter" idx="11"/>
          </p:nvPr>
        </p:nvSpPr>
        <p:spPr>
          <a:xfrm>
            <a:off x="457200" y="4917186"/>
            <a:ext cx="3657600" cy="171450"/>
          </a:xfrm>
        </p:spPr>
        <p:txBody>
          <a:bodyPr/>
          <a:lstStyle/>
          <a:p>
            <a:endParaRPr lang="en-US"/>
          </a:p>
        </p:txBody>
      </p:sp>
      <p:sp>
        <p:nvSpPr>
          <p:cNvPr id="6" name="Slide Number Placeholder 5"/>
          <p:cNvSpPr>
            <a:spLocks noGrp="1"/>
          </p:cNvSpPr>
          <p:nvPr>
            <p:ph type="sldNum" sz="quarter" idx="12"/>
          </p:nvPr>
        </p:nvSpPr>
        <p:spPr>
          <a:xfrm>
            <a:off x="6254496" y="4914900"/>
            <a:ext cx="588336" cy="171450"/>
          </a:xfrm>
        </p:spPr>
        <p:txBody>
          <a:bodyPr/>
          <a:lstStyle>
            <a:lvl1pPr>
              <a:defRPr>
                <a:solidFill>
                  <a:schemeClr val="tx2"/>
                </a:solidFill>
              </a:defRPr>
            </a:lvl1pPr>
            <a:extLst/>
          </a:lstStyle>
          <a:p>
            <a:fld id="{E004422E-EDD2-4B0B-A52B-28308297B27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51435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457200" y="240030"/>
            <a:ext cx="7239000" cy="857250"/>
          </a:xfrm>
          <a:prstGeom prst="rect">
            <a:avLst/>
          </a:prstGeom>
        </p:spPr>
        <p:txBody>
          <a:bodyPr vert="horz" lIns="45720" tIns="0" rIns="45720" bIns="0" anchor="b" anchorCtr="0">
            <a:normAutofit/>
          </a:bodyPr>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207062"/>
            <a:ext cx="7239000" cy="363474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4918459"/>
            <a:ext cx="2002464" cy="170177"/>
          </a:xfrm>
          <a:prstGeom prst="rect">
            <a:avLst/>
          </a:prstGeom>
        </p:spPr>
        <p:txBody>
          <a:bodyPr vert="horz" tIns="0" bIns="0" anchor="b"/>
          <a:lstStyle>
            <a:lvl1pPr algn="l" eaLnBrk="1" latinLnBrk="0" hangingPunct="1">
              <a:defRPr kumimoji="0" sz="1000">
                <a:solidFill>
                  <a:schemeClr val="tx2"/>
                </a:solidFill>
              </a:defRPr>
            </a:lvl1pPr>
            <a:extLst/>
          </a:lstStyle>
          <a:p>
            <a:fld id="{BF0DE94B-9ECB-4479-B6C6-6ED3999FA8C4}" type="datetimeFigureOut">
              <a:rPr lang="en-US" smtClean="0"/>
              <a:pPr/>
              <a:t>5/12/2025</a:t>
            </a:fld>
            <a:endParaRPr lang="en-US"/>
          </a:p>
        </p:txBody>
      </p:sp>
      <p:sp>
        <p:nvSpPr>
          <p:cNvPr id="4" name="Footer Placeholder 3"/>
          <p:cNvSpPr>
            <a:spLocks noGrp="1"/>
          </p:cNvSpPr>
          <p:nvPr>
            <p:ph type="ftr" sz="quarter" idx="3"/>
          </p:nvPr>
        </p:nvSpPr>
        <p:spPr>
          <a:xfrm>
            <a:off x="457200" y="4918460"/>
            <a:ext cx="3657600" cy="17145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4917186"/>
            <a:ext cx="588336" cy="171450"/>
          </a:xfrm>
          <a:prstGeom prst="rect">
            <a:avLst/>
          </a:prstGeom>
        </p:spPr>
        <p:txBody>
          <a:bodyPr vert="horz" lIns="0" tIns="0" rIns="0" bIns="0" anchor="b"/>
          <a:lstStyle>
            <a:lvl1pPr algn="r" eaLnBrk="1" latinLnBrk="0" hangingPunct="1">
              <a:defRPr kumimoji="0" sz="1100">
                <a:solidFill>
                  <a:schemeClr val="tx2"/>
                </a:solidFill>
              </a:defRPr>
            </a:lvl1pPr>
            <a:extLst/>
          </a:lstStyle>
          <a:p>
            <a:fld id="{E004422E-EDD2-4B0B-A52B-28308297B27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ENGINEERING CHEMISTRY - II</a:t>
            </a:r>
            <a:endParaRPr lang="en-US" dirty="0"/>
          </a:p>
        </p:txBody>
      </p:sp>
      <p:sp>
        <p:nvSpPr>
          <p:cNvPr id="3" name="Subtitle 2"/>
          <p:cNvSpPr>
            <a:spLocks noGrp="1"/>
          </p:cNvSpPr>
          <p:nvPr>
            <p:ph type="subTitle" idx="1"/>
          </p:nvPr>
        </p:nvSpPr>
        <p:spPr>
          <a:xfrm>
            <a:off x="3354442" y="2654898"/>
            <a:ext cx="5114778" cy="1042001"/>
          </a:xfrm>
        </p:spPr>
        <p:txBody>
          <a:bodyPr>
            <a:noAutofit/>
          </a:bodyPr>
          <a:lstStyle/>
          <a:p>
            <a:pPr>
              <a:lnSpc>
                <a:spcPct val="160000"/>
              </a:lnSpc>
            </a:pPr>
            <a:r>
              <a:rPr lang="en-US" sz="1600" b="1" dirty="0" smtClean="0"/>
              <a:t>22CH203</a:t>
            </a:r>
          </a:p>
          <a:p>
            <a:pPr>
              <a:lnSpc>
                <a:spcPct val="160000"/>
              </a:lnSpc>
            </a:pPr>
            <a:r>
              <a:rPr lang="en-US" sz="1600" b="1" dirty="0" smtClean="0"/>
              <a:t>Unit 4 – Lesson Plan 3</a:t>
            </a:r>
            <a:endParaRPr lang="en-US" sz="1600" b="1" dirty="0"/>
          </a:p>
        </p:txBody>
      </p:sp>
    </p:spTree>
    <p:extLst>
      <p:ext uri="{BB962C8B-B14F-4D97-AF65-F5344CB8AC3E}">
        <p14:creationId xmlns:p14="http://schemas.microsoft.com/office/powerpoint/2010/main" xmlns="" val="19011279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positive catalysis</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dirty="0" smtClean="0">
                <a:latin typeface="Andalus" pitchFamily="18" charset="-78"/>
                <a:cs typeface="Andalus" pitchFamily="18" charset="-78"/>
              </a:rPr>
              <a:t>When the rate of the reaction is </a:t>
            </a:r>
            <a:r>
              <a:rPr lang="en-IN"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increased by the catalyst</a:t>
            </a:r>
            <a:r>
              <a:rPr lang="en-IN" dirty="0" smtClean="0">
                <a:latin typeface="Andalus" pitchFamily="18" charset="-78"/>
                <a:cs typeface="Andalus" pitchFamily="18" charset="-78"/>
              </a:rPr>
              <a:t>, it is said to be a positive catalyst and phenomenon as positive catalysis. </a:t>
            </a:r>
          </a:p>
          <a:p>
            <a:pPr>
              <a:lnSpc>
                <a:spcPct val="150000"/>
              </a:lnSpc>
            </a:pPr>
            <a:endParaRPr lang="en-IN" sz="2800" dirty="0" smtClean="0">
              <a:latin typeface="Andalus" pitchFamily="18" charset="-78"/>
              <a:cs typeface="Andalus" pitchFamily="18" charset="-78"/>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negative catalysis</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dirty="0" smtClean="0">
                <a:latin typeface="Andalus" pitchFamily="18" charset="-78"/>
                <a:cs typeface="Andalus" pitchFamily="18" charset="-78"/>
              </a:rPr>
              <a:t>When the rate of the reaction is </a:t>
            </a:r>
            <a:r>
              <a:rPr lang="en-IN"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decreased by the catalyst</a:t>
            </a:r>
            <a:r>
              <a:rPr lang="en-IN" dirty="0" smtClean="0">
                <a:latin typeface="Andalus" pitchFamily="18" charset="-78"/>
                <a:cs typeface="Andalus" pitchFamily="18" charset="-78"/>
              </a:rPr>
              <a:t>, it is said to be a negative catalyst or inhibitors and phenomenon as negative catalysis. </a:t>
            </a:r>
          </a:p>
          <a:p>
            <a:pPr>
              <a:lnSpc>
                <a:spcPct val="150000"/>
              </a:lnSpc>
            </a:pPr>
            <a:endParaRPr lang="en-IN" sz="2800" dirty="0" smtClean="0">
              <a:latin typeface="Andalus" pitchFamily="18" charset="-78"/>
              <a:cs typeface="Andalus" pitchFamily="18" charset="-78"/>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autocatalysis</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sz="2400" dirty="0" smtClean="0">
                <a:latin typeface="Andalus" pitchFamily="18" charset="-78"/>
                <a:cs typeface="Andalus" pitchFamily="18" charset="-78"/>
              </a:rPr>
              <a:t> When one of the products of reaction itself acts as a catalyst for that reaction the phenomenon is called Autocatalysis. </a:t>
            </a:r>
          </a:p>
          <a:p>
            <a:pPr algn="just">
              <a:lnSpc>
                <a:spcPct val="150000"/>
              </a:lnSpc>
            </a:pPr>
            <a:endParaRPr lang="en-IN" sz="2400" dirty="0" smtClean="0">
              <a:latin typeface="Andalus" pitchFamily="18" charset="-78"/>
              <a:cs typeface="Andalus" pitchFamily="18" charset="-78"/>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Autocatalysis</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285720" y="1285866"/>
            <a:ext cx="4471990" cy="3555936"/>
          </a:xfrm>
        </p:spPr>
        <p:txBody>
          <a:bodyPr>
            <a:normAutofit/>
          </a:bodyPr>
          <a:lstStyle/>
          <a:p>
            <a:pPr marL="3175" indent="-3175" algn="just">
              <a:lnSpc>
                <a:spcPct val="150000"/>
              </a:lnSpc>
              <a:buNone/>
            </a:pPr>
            <a:r>
              <a:rPr lang="en-IN" dirty="0" smtClean="0">
                <a:latin typeface="Andalus" pitchFamily="18" charset="-78"/>
                <a:cs typeface="Andalus" pitchFamily="18" charset="-78"/>
              </a:rPr>
              <a:t>The curve plotted between reaction rate and time shows a maximum when the reaction is complete. </a:t>
            </a:r>
          </a:p>
        </p:txBody>
      </p:sp>
      <p:sp>
        <p:nvSpPr>
          <p:cNvPr id="5" name="Footer Placeholder 6"/>
          <p:cNvSpPr>
            <a:spLocks noGrp="1"/>
          </p:cNvSpPr>
          <p:nvPr>
            <p:ph type="ftr" sz="quarter" idx="11"/>
          </p:nvPr>
        </p:nvSpPr>
        <p:spPr>
          <a:xfrm>
            <a:off x="4495800" y="4972050"/>
            <a:ext cx="3657600" cy="171450"/>
          </a:xfrm>
        </p:spPr>
        <p:txBody>
          <a:bodyPr/>
          <a:lstStyle/>
          <a:p>
            <a:r>
              <a:rPr lang="en-US" dirty="0" smtClean="0"/>
              <a:t>Dr </a:t>
            </a:r>
            <a:r>
              <a:rPr lang="en-US" dirty="0" err="1" smtClean="0"/>
              <a:t>Rameshkumar</a:t>
            </a:r>
            <a:r>
              <a:rPr lang="en-US" dirty="0" smtClean="0"/>
              <a:t> A/AP Chemistry</a:t>
            </a:r>
            <a:endParaRPr lang="en-US" dirty="0"/>
          </a:p>
        </p:txBody>
      </p:sp>
      <p:pic>
        <p:nvPicPr>
          <p:cNvPr id="3" name="Picture 2"/>
          <p:cNvPicPr>
            <a:picLocks noChangeAspect="1" noChangeArrowheads="1"/>
          </p:cNvPicPr>
          <p:nvPr/>
        </p:nvPicPr>
        <p:blipFill>
          <a:blip r:embed="rId2" cstate="print"/>
          <a:srcRect/>
          <a:stretch>
            <a:fillRect/>
          </a:stretch>
        </p:blipFill>
        <p:spPr bwMode="auto">
          <a:xfrm>
            <a:off x="4714876" y="1142990"/>
            <a:ext cx="3389329" cy="3227684"/>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Promoter</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dirty="0" smtClean="0">
                <a:latin typeface="Andalus" pitchFamily="18" charset="-78"/>
                <a:cs typeface="Andalus" pitchFamily="18" charset="-78"/>
              </a:rPr>
              <a:t>A substance which, though itself not a catalyst, promotes the activity of a catalyst is called a promoter. They are substances when added in small concentrations can increase the activity of a catalyst.</a:t>
            </a: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Catalytic poison</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dirty="0" smtClean="0">
                <a:latin typeface="Andalus" pitchFamily="18" charset="-78"/>
                <a:cs typeface="Andalus" pitchFamily="18" charset="-78"/>
              </a:rPr>
              <a:t>A substance which destroys the activity of the catalyst is called a poison and the process is called Catalytic Poisoning.</a:t>
            </a: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Types of Catalytic Poison </a:t>
            </a:r>
          </a:p>
        </p:txBody>
      </p:sp>
      <p:sp>
        <p:nvSpPr>
          <p:cNvPr id="4" name="Content Placeholder 3"/>
          <p:cNvSpPr>
            <a:spLocks noGrp="1"/>
          </p:cNvSpPr>
          <p:nvPr>
            <p:ph idx="1"/>
          </p:nvPr>
        </p:nvSpPr>
        <p:spPr>
          <a:xfrm>
            <a:off x="457200" y="1207062"/>
            <a:ext cx="7615262" cy="3634740"/>
          </a:xfrm>
        </p:spPr>
        <p:txBody>
          <a:bodyPr>
            <a:normAutofit fontScale="77500" lnSpcReduction="20000"/>
          </a:bodyPr>
          <a:lstStyle/>
          <a:p>
            <a:pPr algn="just">
              <a:lnSpc>
                <a:spcPct val="150000"/>
              </a:lnSpc>
              <a:buNone/>
            </a:pPr>
            <a:r>
              <a:rPr lang="en-IN" dirty="0" smtClean="0">
                <a:latin typeface="Andalus" pitchFamily="18" charset="-78"/>
                <a:cs typeface="Andalus" pitchFamily="18" charset="-78"/>
              </a:rPr>
              <a:t>✔ </a:t>
            </a:r>
            <a:r>
              <a:rPr lang="en-IN" b="1" dirty="0" smtClean="0">
                <a:latin typeface="Andalus" pitchFamily="18" charset="-78"/>
                <a:cs typeface="Andalus" pitchFamily="18" charset="-78"/>
              </a:rPr>
              <a:t>Temporary Poisoning</a:t>
            </a:r>
          </a:p>
          <a:p>
            <a:pPr algn="just">
              <a:lnSpc>
                <a:spcPct val="150000"/>
              </a:lnSpc>
            </a:pPr>
            <a:r>
              <a:rPr lang="en-IN" dirty="0" smtClean="0">
                <a:latin typeface="Andalus" pitchFamily="18" charset="-78"/>
                <a:cs typeface="Andalus" pitchFamily="18" charset="-78"/>
              </a:rPr>
              <a:t>Catalyst regains its activity when the poison is removed from the reaction.</a:t>
            </a:r>
          </a:p>
          <a:p>
            <a:pPr algn="just">
              <a:lnSpc>
                <a:spcPct val="150000"/>
              </a:lnSpc>
              <a:buNone/>
            </a:pPr>
            <a:r>
              <a:rPr lang="en-IN" dirty="0" smtClean="0">
                <a:latin typeface="Andalus" pitchFamily="18" charset="-78"/>
                <a:cs typeface="Andalus" pitchFamily="18" charset="-78"/>
              </a:rPr>
              <a:t>✔ </a:t>
            </a:r>
            <a:r>
              <a:rPr lang="en-IN" b="1" dirty="0" smtClean="0">
                <a:latin typeface="Andalus" pitchFamily="18" charset="-78"/>
                <a:cs typeface="Andalus" pitchFamily="18" charset="-78"/>
              </a:rPr>
              <a:t>Permanent Poisoning</a:t>
            </a:r>
          </a:p>
          <a:p>
            <a:pPr algn="just">
              <a:lnSpc>
                <a:spcPct val="150000"/>
              </a:lnSpc>
            </a:pPr>
            <a:r>
              <a:rPr lang="en-IN" dirty="0" smtClean="0">
                <a:latin typeface="Andalus" pitchFamily="18" charset="-78"/>
                <a:cs typeface="Andalus" pitchFamily="18" charset="-78"/>
              </a:rPr>
              <a:t>Catalyst cannot regain its activity even if the catalytic poison is removed. </a:t>
            </a:r>
          </a:p>
          <a:p>
            <a:pPr algn="just">
              <a:lnSpc>
                <a:spcPct val="150000"/>
              </a:lnSpc>
            </a:pPr>
            <a:r>
              <a:rPr lang="en-IN" dirty="0" err="1" smtClean="0">
                <a:latin typeface="Andalus" pitchFamily="18" charset="-78"/>
                <a:cs typeface="Andalus" pitchFamily="18" charset="-78"/>
              </a:rPr>
              <a:t>Eg</a:t>
            </a:r>
            <a:r>
              <a:rPr lang="en-IN" dirty="0" smtClean="0">
                <a:latin typeface="Andalus" pitchFamily="18" charset="-78"/>
                <a:cs typeface="Andalus" pitchFamily="18" charset="-78"/>
              </a:rPr>
              <a:t>. As</a:t>
            </a:r>
            <a:r>
              <a:rPr lang="en-IN" baseline="-25000" dirty="0" smtClean="0">
                <a:latin typeface="Andalus" pitchFamily="18" charset="-78"/>
                <a:cs typeface="Andalus" pitchFamily="18" charset="-78"/>
              </a:rPr>
              <a:t>2</a:t>
            </a:r>
            <a:r>
              <a:rPr lang="en-IN" dirty="0" smtClean="0">
                <a:latin typeface="Andalus" pitchFamily="18" charset="-78"/>
                <a:cs typeface="Andalus" pitchFamily="18" charset="-78"/>
              </a:rPr>
              <a:t>O</a:t>
            </a:r>
            <a:r>
              <a:rPr lang="en-IN" baseline="-25000" dirty="0" smtClean="0">
                <a:latin typeface="Andalus" pitchFamily="18" charset="-78"/>
                <a:cs typeface="Andalus" pitchFamily="18" charset="-78"/>
              </a:rPr>
              <a:t>3</a:t>
            </a:r>
            <a:r>
              <a:rPr lang="en-IN" dirty="0" smtClean="0">
                <a:latin typeface="Andalus" pitchFamily="18" charset="-78"/>
                <a:cs typeface="Andalus" pitchFamily="18" charset="-78"/>
              </a:rPr>
              <a:t>  poisons catalyst Pt permanently in manufacturing of SO</a:t>
            </a:r>
            <a:r>
              <a:rPr lang="en-IN" baseline="-25000" dirty="0" smtClean="0">
                <a:latin typeface="Andalus" pitchFamily="18" charset="-78"/>
                <a:cs typeface="Andalus" pitchFamily="18" charset="-78"/>
              </a:rPr>
              <a:t>3</a:t>
            </a:r>
            <a:r>
              <a:rPr lang="en-IN" dirty="0" smtClean="0">
                <a:latin typeface="Andalus" pitchFamily="18" charset="-78"/>
                <a:cs typeface="Andalus" pitchFamily="18" charset="-78"/>
              </a:rPr>
              <a:t>.</a:t>
            </a: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Acid and base catalysis</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dirty="0" smtClean="0">
                <a:latin typeface="Andalus" pitchFamily="18" charset="-78"/>
                <a:cs typeface="Andalus" pitchFamily="18" charset="-78"/>
              </a:rPr>
              <a:t>A number of homogeneous catalytic reactions are known which are catalysed by acids or bases, or both acids and bases. These are often referred to as Acid-Base catalysts</a:t>
            </a: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Acid and base catalysis</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dirty="0" smtClean="0">
                <a:latin typeface="Andalus" pitchFamily="18" charset="-78"/>
                <a:cs typeface="Andalus" pitchFamily="18" charset="-78"/>
              </a:rPr>
              <a:t>Mechanism: Acid catalysis</a:t>
            </a: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41986" name="Picture 2"/>
          <p:cNvPicPr>
            <a:picLocks noChangeAspect="1" noChangeArrowheads="1"/>
          </p:cNvPicPr>
          <p:nvPr/>
        </p:nvPicPr>
        <p:blipFill>
          <a:blip r:embed="rId2" cstate="print"/>
          <a:srcRect/>
          <a:stretch>
            <a:fillRect/>
          </a:stretch>
        </p:blipFill>
        <p:spPr bwMode="auto">
          <a:xfrm>
            <a:off x="357158" y="2143122"/>
            <a:ext cx="7618552" cy="1439869"/>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Acid and base catalysis</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dirty="0" smtClean="0">
                <a:latin typeface="Andalus" pitchFamily="18" charset="-78"/>
                <a:cs typeface="Andalus" pitchFamily="18" charset="-78"/>
              </a:rPr>
              <a:t>Mechanism: Base catalysis</a:t>
            </a: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43010" name="Picture 2"/>
          <p:cNvPicPr>
            <a:picLocks noChangeAspect="1" noChangeArrowheads="1"/>
          </p:cNvPicPr>
          <p:nvPr/>
        </p:nvPicPr>
        <p:blipFill>
          <a:blip r:embed="rId2" cstate="print"/>
          <a:srcRect/>
          <a:stretch>
            <a:fillRect/>
          </a:stretch>
        </p:blipFill>
        <p:spPr bwMode="auto">
          <a:xfrm>
            <a:off x="1643042" y="2000246"/>
            <a:ext cx="4934787" cy="1533533"/>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00B0F0"/>
                </a:solidFill>
                <a:effectLst>
                  <a:outerShdw blurRad="38100" dist="38100" dir="2700000" algn="tl">
                    <a:srgbClr val="000000">
                      <a:alpha val="43137"/>
                    </a:srgbClr>
                  </a:outerShdw>
                </a:effectLst>
              </a:rPr>
              <a:t>Biological catalyst - enzymes</a:t>
            </a:r>
            <a:endParaRPr lang="en-IN" dirty="0">
              <a:solidFill>
                <a:srgbClr val="00B0F0"/>
              </a:solidFill>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57200" y="1207062"/>
            <a:ext cx="7615262" cy="3634740"/>
          </a:xfrm>
        </p:spPr>
        <p:txBody>
          <a:bodyPr>
            <a:normAutofit/>
          </a:bodyPr>
          <a:lstStyle/>
          <a:p>
            <a:pPr algn="just">
              <a:lnSpc>
                <a:spcPct val="150000"/>
              </a:lnSpc>
            </a:pPr>
            <a:r>
              <a:rPr lang="en-IN" dirty="0" smtClean="0">
                <a:latin typeface="Andalus" pitchFamily="18" charset="-78"/>
                <a:cs typeface="Andalus" pitchFamily="18" charset="-78"/>
              </a:rPr>
              <a:t>Enzymes are </a:t>
            </a:r>
            <a:r>
              <a:rPr lang="en-IN"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protein molecules </a:t>
            </a:r>
            <a:r>
              <a:rPr lang="en-IN" dirty="0" smtClean="0">
                <a:latin typeface="Andalus" pitchFamily="18" charset="-78"/>
                <a:cs typeface="Andalus" pitchFamily="18" charset="-78"/>
              </a:rPr>
              <a:t>which act as catalysts </a:t>
            </a:r>
            <a:r>
              <a:rPr lang="en-IN" dirty="0" smtClean="0">
                <a:solidFill>
                  <a:srgbClr val="FF0000"/>
                </a:solidFill>
                <a:effectLst>
                  <a:outerShdw blurRad="38100" dist="38100" dir="2700000" algn="tl">
                    <a:srgbClr val="000000">
                      <a:alpha val="43137"/>
                    </a:srgbClr>
                  </a:outerShdw>
                </a:effectLst>
                <a:latin typeface="Andalus" pitchFamily="18" charset="-78"/>
                <a:cs typeface="Andalus" pitchFamily="18" charset="-78"/>
              </a:rPr>
              <a:t>to speed up organic reactions </a:t>
            </a:r>
            <a:r>
              <a:rPr lang="en-IN" dirty="0" smtClean="0">
                <a:latin typeface="Andalus" pitchFamily="18" charset="-78"/>
                <a:cs typeface="Andalus" pitchFamily="18" charset="-78"/>
              </a:rPr>
              <a:t>in living cells. The catalysis brought about by enzymes is known as Enzyme Catalysis. </a:t>
            </a: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00B0F0"/>
                </a:solidFill>
                <a:effectLst>
                  <a:outerShdw blurRad="38100" dist="38100" dir="2700000" algn="tl">
                    <a:srgbClr val="000000">
                      <a:alpha val="43137"/>
                    </a:srgbClr>
                  </a:outerShdw>
                </a:effectLst>
              </a:rPr>
              <a:t>Biological catalyst - enzymes</a:t>
            </a:r>
            <a:endParaRPr lang="en-IN" dirty="0">
              <a:solidFill>
                <a:srgbClr val="00B0F0"/>
              </a:solidFill>
              <a:effectLst>
                <a:outerShdw blurRad="38100" dist="38100" dir="2700000" algn="tl">
                  <a:srgbClr val="000000">
                    <a:alpha val="43137"/>
                  </a:srgbClr>
                </a:outerShdw>
              </a:effectLst>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44034" name="Picture 2"/>
          <p:cNvPicPr>
            <a:picLocks noGrp="1" noChangeAspect="1" noChangeArrowheads="1"/>
          </p:cNvPicPr>
          <p:nvPr>
            <p:ph idx="1"/>
          </p:nvPr>
        </p:nvPicPr>
        <p:blipFill>
          <a:blip r:embed="rId2" cstate="print"/>
          <a:srcRect/>
          <a:stretch>
            <a:fillRect/>
          </a:stretch>
        </p:blipFill>
        <p:spPr bwMode="auto">
          <a:xfrm>
            <a:off x="357158" y="1285866"/>
            <a:ext cx="7778577" cy="2643206"/>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00B0F0"/>
                </a:solidFill>
                <a:effectLst>
                  <a:outerShdw blurRad="38100" dist="38100" dir="2700000" algn="tl">
                    <a:srgbClr val="000000">
                      <a:alpha val="43137"/>
                    </a:srgbClr>
                  </a:outerShdw>
                </a:effectLst>
              </a:rPr>
              <a:t>Biological catalyst - enzymes</a:t>
            </a:r>
            <a:endParaRPr lang="en-IN" dirty="0">
              <a:solidFill>
                <a:srgbClr val="00B0F0"/>
              </a:solidFill>
              <a:effectLst>
                <a:outerShdw blurRad="38100" dist="38100" dir="2700000" algn="tl">
                  <a:srgbClr val="000000">
                    <a:alpha val="43137"/>
                  </a:srgbClr>
                </a:outerShdw>
              </a:effectLst>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45059" name="Picture 3"/>
          <p:cNvPicPr>
            <a:picLocks noGrp="1" noChangeAspect="1" noChangeArrowheads="1"/>
          </p:cNvPicPr>
          <p:nvPr>
            <p:ph idx="1"/>
          </p:nvPr>
        </p:nvPicPr>
        <p:blipFill>
          <a:blip r:embed="rId2" cstate="print"/>
          <a:srcRect/>
          <a:stretch>
            <a:fillRect/>
          </a:stretch>
        </p:blipFill>
        <p:spPr bwMode="auto">
          <a:xfrm>
            <a:off x="1000100" y="1500180"/>
            <a:ext cx="6337734" cy="250033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00B0F0"/>
                </a:solidFill>
                <a:effectLst>
                  <a:outerShdw blurRad="38100" dist="38100" dir="2700000" algn="tl">
                    <a:srgbClr val="000000">
                      <a:alpha val="43137"/>
                    </a:srgbClr>
                  </a:outerShdw>
                </a:effectLst>
              </a:rPr>
              <a:t>Biological catalyst - enzymes</a:t>
            </a:r>
            <a:endParaRPr lang="en-IN" dirty="0">
              <a:solidFill>
                <a:srgbClr val="00B0F0"/>
              </a:solidFill>
              <a:effectLst>
                <a:outerShdw blurRad="38100" dist="38100" dir="2700000" algn="tl">
                  <a:srgbClr val="000000">
                    <a:alpha val="43137"/>
                  </a:srgbClr>
                </a:outerShdw>
              </a:effectLst>
            </a:endParaRPr>
          </a:p>
        </p:txBody>
      </p:sp>
      <p:sp>
        <p:nvSpPr>
          <p:cNvPr id="5" name="Footer Placeholder 6"/>
          <p:cNvSpPr>
            <a:spLocks noGrp="1"/>
          </p:cNvSpPr>
          <p:nvPr>
            <p:ph type="ftr" sz="quarter" idx="11"/>
          </p:nvPr>
        </p:nvSpPr>
        <p:spPr>
          <a:xfrm>
            <a:off x="4495800" y="4972050"/>
            <a:ext cx="3657600" cy="171450"/>
          </a:xfrm>
        </p:spPr>
        <p:txBody>
          <a:bodyPr/>
          <a:lstStyle/>
          <a:p>
            <a:r>
              <a:rPr lang="en-US" smtClean="0"/>
              <a:t>Dr Rameshkumar A/AP Chemistry</a:t>
            </a:r>
            <a:endParaRPr lang="en-US"/>
          </a:p>
        </p:txBody>
      </p:sp>
      <p:pic>
        <p:nvPicPr>
          <p:cNvPr id="46082" name="Picture 2"/>
          <p:cNvPicPr>
            <a:picLocks noGrp="1" noChangeAspect="1" noChangeArrowheads="1"/>
          </p:cNvPicPr>
          <p:nvPr>
            <p:ph idx="1"/>
          </p:nvPr>
        </p:nvPicPr>
        <p:blipFill>
          <a:blip r:embed="rId2" cstate="print"/>
          <a:srcRect/>
          <a:stretch>
            <a:fillRect/>
          </a:stretch>
        </p:blipFill>
        <p:spPr bwMode="auto">
          <a:xfrm>
            <a:off x="1" y="1071552"/>
            <a:ext cx="8001023" cy="2249344"/>
          </a:xfrm>
          <a:prstGeom prst="rect">
            <a:avLst/>
          </a:prstGeom>
          <a:noFill/>
          <a:ln w="9525">
            <a:noFill/>
            <a:miter lim="800000"/>
            <a:headEnd/>
            <a:tailEnd/>
          </a:ln>
          <a:effectLst/>
        </p:spPr>
      </p:pic>
      <p:pic>
        <p:nvPicPr>
          <p:cNvPr id="46083" name="Picture 3"/>
          <p:cNvPicPr>
            <a:picLocks noChangeAspect="1" noChangeArrowheads="1"/>
          </p:cNvPicPr>
          <p:nvPr/>
        </p:nvPicPr>
        <p:blipFill>
          <a:blip r:embed="rId3" cstate="print"/>
          <a:srcRect/>
          <a:stretch>
            <a:fillRect/>
          </a:stretch>
        </p:blipFill>
        <p:spPr bwMode="auto">
          <a:xfrm>
            <a:off x="1214414" y="3324223"/>
            <a:ext cx="4467225" cy="1604963"/>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Applications of catalysis</a:t>
            </a:r>
            <a:endParaRPr lang="en-IN" dirty="0">
              <a:solidFill>
                <a:srgbClr val="00B0F0"/>
              </a:solidFill>
              <a:effectLst>
                <a:outerShdw blurRad="38100" dist="38100" dir="2700000" algn="tl">
                  <a:srgbClr val="000000">
                    <a:alpha val="43137"/>
                  </a:srgbClr>
                </a:outerShdw>
              </a:effectLst>
            </a:endParaRPr>
          </a:p>
        </p:txBody>
      </p:sp>
      <p:sp>
        <p:nvSpPr>
          <p:cNvPr id="8" name="Content Placeholder 7"/>
          <p:cNvSpPr>
            <a:spLocks noGrp="1"/>
          </p:cNvSpPr>
          <p:nvPr>
            <p:ph idx="1"/>
          </p:nvPr>
        </p:nvSpPr>
        <p:spPr>
          <a:xfrm>
            <a:off x="457200" y="1207062"/>
            <a:ext cx="7543824" cy="3634740"/>
          </a:xfrm>
        </p:spPr>
        <p:txBody>
          <a:bodyPr>
            <a:normAutofit/>
          </a:bodyPr>
          <a:lstStyle/>
          <a:p>
            <a:pPr algn="just">
              <a:lnSpc>
                <a:spcPct val="150000"/>
              </a:lnSpc>
              <a:buNone/>
            </a:pPr>
            <a:r>
              <a:rPr lang="en-IN" b="1" dirty="0" smtClean="0">
                <a:latin typeface="Andalus" pitchFamily="18" charset="-78"/>
                <a:cs typeface="Andalus" pitchFamily="18" charset="-78"/>
              </a:rPr>
              <a:t>Catalytic Converters</a:t>
            </a:r>
          </a:p>
          <a:p>
            <a:pPr algn="just">
              <a:lnSpc>
                <a:spcPct val="150000"/>
              </a:lnSpc>
            </a:pPr>
            <a:r>
              <a:rPr lang="en-IN" dirty="0" smtClean="0">
                <a:latin typeface="Andalus" pitchFamily="18" charset="-78"/>
                <a:cs typeface="Andalus" pitchFamily="18" charset="-78"/>
              </a:rPr>
              <a:t>A device incorporated in the exhaust system of a motor vehicle, containing a catalyst for converting pollutant gases into less harmful ones.</a:t>
            </a:r>
          </a:p>
        </p:txBody>
      </p:sp>
      <p:sp>
        <p:nvSpPr>
          <p:cNvPr id="5" name="Footer Placeholder 6"/>
          <p:cNvSpPr>
            <a:spLocks noGrp="1"/>
          </p:cNvSpPr>
          <p:nvPr>
            <p:ph type="ftr" sz="quarter" idx="11"/>
          </p:nvPr>
        </p:nvSpPr>
        <p:spPr>
          <a:xfrm>
            <a:off x="4429124" y="4972050"/>
            <a:ext cx="3657600" cy="171450"/>
          </a:xfrm>
        </p:spPr>
        <p:txBody>
          <a:bodyPr/>
          <a:lstStyle/>
          <a:p>
            <a:r>
              <a:rPr lang="en-US" dirty="0" smtClean="0"/>
              <a:t>Dr </a:t>
            </a:r>
            <a:r>
              <a:rPr lang="en-US" dirty="0" err="1" smtClean="0"/>
              <a:t>Rameshkumar</a:t>
            </a:r>
            <a:r>
              <a:rPr lang="en-US" dirty="0" smtClean="0"/>
              <a:t> A/AP Chemistry</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Applications of catalysis</a:t>
            </a:r>
            <a:endParaRPr lang="en-IN" dirty="0">
              <a:solidFill>
                <a:srgbClr val="00B0F0"/>
              </a:solidFill>
              <a:effectLst>
                <a:outerShdw blurRad="38100" dist="38100" dir="2700000" algn="tl">
                  <a:srgbClr val="000000">
                    <a:alpha val="43137"/>
                  </a:srgbClr>
                </a:outerShdw>
              </a:effectLst>
            </a:endParaRPr>
          </a:p>
        </p:txBody>
      </p:sp>
      <p:sp>
        <p:nvSpPr>
          <p:cNvPr id="8" name="Content Placeholder 7"/>
          <p:cNvSpPr>
            <a:spLocks noGrp="1"/>
          </p:cNvSpPr>
          <p:nvPr>
            <p:ph idx="1"/>
          </p:nvPr>
        </p:nvSpPr>
        <p:spPr>
          <a:xfrm>
            <a:off x="457200" y="1207062"/>
            <a:ext cx="7543824" cy="3634740"/>
          </a:xfrm>
        </p:spPr>
        <p:txBody>
          <a:bodyPr>
            <a:normAutofit fontScale="62500" lnSpcReduction="20000"/>
          </a:bodyPr>
          <a:lstStyle/>
          <a:p>
            <a:pPr algn="just">
              <a:lnSpc>
                <a:spcPct val="170000"/>
              </a:lnSpc>
              <a:buNone/>
            </a:pPr>
            <a:r>
              <a:rPr lang="en-IN" b="1" dirty="0" smtClean="0">
                <a:latin typeface="Andalus" pitchFamily="18" charset="-78"/>
                <a:cs typeface="Andalus" pitchFamily="18" charset="-78"/>
              </a:rPr>
              <a:t>Catalytic Converters</a:t>
            </a:r>
          </a:p>
          <a:p>
            <a:pPr algn="just">
              <a:lnSpc>
                <a:spcPct val="170000"/>
              </a:lnSpc>
            </a:pPr>
            <a:r>
              <a:rPr lang="en-IN" dirty="0" smtClean="0">
                <a:latin typeface="Andalus" pitchFamily="18" charset="-78"/>
                <a:cs typeface="Andalus" pitchFamily="18" charset="-78"/>
              </a:rPr>
              <a:t>Catalytic converters are used for mitigating automobile exhaust emissions. Catalytic converters are used within internal combustion engines fuelled by either petrol (gasoline) or diesel. </a:t>
            </a:r>
          </a:p>
          <a:p>
            <a:pPr algn="just">
              <a:lnSpc>
                <a:spcPct val="170000"/>
              </a:lnSpc>
            </a:pPr>
            <a:r>
              <a:rPr lang="en-IN" dirty="0" smtClean="0">
                <a:latin typeface="Andalus" pitchFamily="18" charset="-78"/>
                <a:cs typeface="Andalus" pitchFamily="18" charset="-78"/>
              </a:rPr>
              <a:t>It converts three harmful substances into harmless ones: </a:t>
            </a:r>
          </a:p>
          <a:p>
            <a:pPr algn="just">
              <a:lnSpc>
                <a:spcPct val="170000"/>
              </a:lnSpc>
              <a:buNone/>
            </a:pPr>
            <a:r>
              <a:rPr lang="en-IN" dirty="0" smtClean="0">
                <a:latin typeface="Andalus" pitchFamily="18" charset="-78"/>
                <a:cs typeface="Andalus" pitchFamily="18" charset="-78"/>
              </a:rPr>
              <a:t>1. carbon monoxide (a poisonous gas) into carbon dioxide</a:t>
            </a:r>
          </a:p>
          <a:p>
            <a:pPr algn="just">
              <a:lnSpc>
                <a:spcPct val="170000"/>
              </a:lnSpc>
              <a:buNone/>
            </a:pPr>
            <a:r>
              <a:rPr lang="en-IN" dirty="0" smtClean="0">
                <a:latin typeface="Andalus" pitchFamily="18" charset="-78"/>
                <a:cs typeface="Andalus" pitchFamily="18" charset="-78"/>
              </a:rPr>
              <a:t>2. nitrogen oxides (cause acid rain and smog) into nitrogen and oxygen and </a:t>
            </a:r>
          </a:p>
          <a:p>
            <a:pPr algn="just">
              <a:lnSpc>
                <a:spcPct val="170000"/>
              </a:lnSpc>
              <a:buNone/>
            </a:pPr>
            <a:r>
              <a:rPr lang="en-IN" dirty="0" smtClean="0">
                <a:latin typeface="Andalus" pitchFamily="18" charset="-78"/>
                <a:cs typeface="Andalus" pitchFamily="18" charset="-78"/>
              </a:rPr>
              <a:t>3. hydrocarbons (cause smog and respiratory problems) into carbon dioxide and water. </a:t>
            </a:r>
          </a:p>
        </p:txBody>
      </p:sp>
      <p:sp>
        <p:nvSpPr>
          <p:cNvPr id="5" name="Footer Placeholder 6"/>
          <p:cNvSpPr>
            <a:spLocks noGrp="1"/>
          </p:cNvSpPr>
          <p:nvPr>
            <p:ph type="ftr" sz="quarter" idx="11"/>
          </p:nvPr>
        </p:nvSpPr>
        <p:spPr>
          <a:xfrm>
            <a:off x="4500562" y="4972050"/>
            <a:ext cx="3657600" cy="171450"/>
          </a:xfrm>
        </p:spPr>
        <p:txBody>
          <a:bodyPr/>
          <a:lstStyle/>
          <a:p>
            <a:r>
              <a:rPr lang="en-US" dirty="0" smtClean="0"/>
              <a:t>Dr </a:t>
            </a:r>
            <a:r>
              <a:rPr lang="en-US" dirty="0" err="1" smtClean="0"/>
              <a:t>Rameshkumar</a:t>
            </a:r>
            <a:r>
              <a:rPr lang="en-US" dirty="0" smtClean="0"/>
              <a:t> A/AP Chemistry</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Applications of catalysis</a:t>
            </a:r>
            <a:endParaRPr lang="en-IN" dirty="0">
              <a:solidFill>
                <a:srgbClr val="00B0F0"/>
              </a:solidFill>
              <a:effectLst>
                <a:outerShdw blurRad="38100" dist="38100" dir="2700000" algn="tl">
                  <a:srgbClr val="000000">
                    <a:alpha val="43137"/>
                  </a:srgbClr>
                </a:outerShdw>
              </a:effectLst>
            </a:endParaRPr>
          </a:p>
        </p:txBody>
      </p:sp>
      <p:sp>
        <p:nvSpPr>
          <p:cNvPr id="8" name="Content Placeholder 7"/>
          <p:cNvSpPr>
            <a:spLocks noGrp="1"/>
          </p:cNvSpPr>
          <p:nvPr>
            <p:ph idx="1"/>
          </p:nvPr>
        </p:nvSpPr>
        <p:spPr>
          <a:xfrm>
            <a:off x="457200" y="1207062"/>
            <a:ext cx="7543824" cy="3634740"/>
          </a:xfrm>
        </p:spPr>
        <p:txBody>
          <a:bodyPr>
            <a:normAutofit fontScale="92500"/>
          </a:bodyPr>
          <a:lstStyle/>
          <a:p>
            <a:pPr algn="just">
              <a:lnSpc>
                <a:spcPct val="150000"/>
              </a:lnSpc>
              <a:buNone/>
            </a:pPr>
            <a:r>
              <a:rPr lang="en-IN" b="1" dirty="0" smtClean="0">
                <a:latin typeface="Andalus" pitchFamily="18" charset="-78"/>
                <a:cs typeface="Andalus" pitchFamily="18" charset="-78"/>
              </a:rPr>
              <a:t>Catalytic Converters</a:t>
            </a:r>
          </a:p>
          <a:p>
            <a:pPr algn="just">
              <a:lnSpc>
                <a:spcPct val="150000"/>
              </a:lnSpc>
            </a:pPr>
            <a:r>
              <a:rPr lang="en-IN" dirty="0" smtClean="0">
                <a:latin typeface="Andalus" pitchFamily="18" charset="-78"/>
                <a:cs typeface="Andalus" pitchFamily="18" charset="-78"/>
              </a:rPr>
              <a:t>Catalytic converters consist of a stainless steel box attached to the muffler and containing ceramic beads or honeycomb coated with catalysts (Expensive metals like platinum, Palladium, Rhodium are used. Alumina, Ceria can also be used when combined with expensive metals.) </a:t>
            </a:r>
            <a:endParaRPr lang="en-IN" dirty="0">
              <a:latin typeface="Andalus" pitchFamily="18" charset="-78"/>
              <a:cs typeface="Andalus" pitchFamily="18" charset="-78"/>
            </a:endParaRPr>
          </a:p>
        </p:txBody>
      </p:sp>
      <p:sp>
        <p:nvSpPr>
          <p:cNvPr id="5" name="Footer Placeholder 6"/>
          <p:cNvSpPr>
            <a:spLocks noGrp="1"/>
          </p:cNvSpPr>
          <p:nvPr>
            <p:ph type="ftr" sz="quarter" idx="11"/>
          </p:nvPr>
        </p:nvSpPr>
        <p:spPr>
          <a:xfrm>
            <a:off x="4500562" y="4972050"/>
            <a:ext cx="3657600" cy="171450"/>
          </a:xfrm>
        </p:spPr>
        <p:txBody>
          <a:bodyPr/>
          <a:lstStyle/>
          <a:p>
            <a:r>
              <a:rPr lang="en-US" smtClean="0"/>
              <a:t>Dr Rameshkumar A/AP Chemistry</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Applications of catalysis</a:t>
            </a:r>
            <a:endParaRPr lang="en-IN" dirty="0">
              <a:solidFill>
                <a:srgbClr val="00B0F0"/>
              </a:solidFill>
              <a:effectLst>
                <a:outerShdw blurRad="38100" dist="38100" dir="2700000" algn="tl">
                  <a:srgbClr val="000000">
                    <a:alpha val="43137"/>
                  </a:srgbClr>
                </a:outerShdw>
              </a:effectLst>
            </a:endParaRPr>
          </a:p>
        </p:txBody>
      </p:sp>
      <p:sp>
        <p:nvSpPr>
          <p:cNvPr id="8" name="Content Placeholder 7"/>
          <p:cNvSpPr>
            <a:spLocks noGrp="1"/>
          </p:cNvSpPr>
          <p:nvPr>
            <p:ph idx="1"/>
          </p:nvPr>
        </p:nvSpPr>
        <p:spPr>
          <a:xfrm>
            <a:off x="457200" y="1207062"/>
            <a:ext cx="7543824" cy="3634740"/>
          </a:xfrm>
        </p:spPr>
        <p:txBody>
          <a:bodyPr>
            <a:normAutofit/>
          </a:bodyPr>
          <a:lstStyle/>
          <a:p>
            <a:pPr algn="just">
              <a:lnSpc>
                <a:spcPct val="150000"/>
              </a:lnSpc>
              <a:buNone/>
            </a:pPr>
            <a:r>
              <a:rPr lang="en-IN" b="1" dirty="0" smtClean="0">
                <a:latin typeface="Andalus" pitchFamily="18" charset="-78"/>
                <a:cs typeface="Andalus" pitchFamily="18" charset="-78"/>
              </a:rPr>
              <a:t>Catalytic Converters</a:t>
            </a:r>
          </a:p>
        </p:txBody>
      </p:sp>
      <p:sp>
        <p:nvSpPr>
          <p:cNvPr id="5" name="Footer Placeholder 6"/>
          <p:cNvSpPr>
            <a:spLocks noGrp="1"/>
          </p:cNvSpPr>
          <p:nvPr>
            <p:ph type="ftr" sz="quarter" idx="11"/>
          </p:nvPr>
        </p:nvSpPr>
        <p:spPr>
          <a:xfrm>
            <a:off x="4500562" y="4972050"/>
            <a:ext cx="3657600" cy="171450"/>
          </a:xfrm>
        </p:spPr>
        <p:txBody>
          <a:bodyPr/>
          <a:lstStyle/>
          <a:p>
            <a:r>
              <a:rPr lang="en-US" smtClean="0"/>
              <a:t>Dr Rameshkumar A/AP Chemistry</a:t>
            </a:r>
            <a:endParaRPr lang="en-US"/>
          </a:p>
        </p:txBody>
      </p:sp>
      <p:pic>
        <p:nvPicPr>
          <p:cNvPr id="47106" name="Picture 2"/>
          <p:cNvPicPr>
            <a:picLocks noChangeAspect="1" noChangeArrowheads="1"/>
          </p:cNvPicPr>
          <p:nvPr/>
        </p:nvPicPr>
        <p:blipFill>
          <a:blip r:embed="rId2" cstate="print"/>
          <a:srcRect/>
          <a:stretch>
            <a:fillRect/>
          </a:stretch>
        </p:blipFill>
        <p:spPr bwMode="auto">
          <a:xfrm>
            <a:off x="2143108" y="1793210"/>
            <a:ext cx="4929222" cy="3135994"/>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solidFill>
                  <a:srgbClr val="00B0F0"/>
                </a:solidFill>
                <a:effectLst>
                  <a:outerShdw blurRad="38100" dist="38100" dir="2700000" algn="tl">
                    <a:srgbClr val="000000">
                      <a:alpha val="43137"/>
                    </a:srgbClr>
                  </a:outerShdw>
                </a:effectLst>
              </a:rPr>
              <a:t>Applications of catalysis</a:t>
            </a:r>
            <a:endParaRPr lang="en-IN" dirty="0">
              <a:solidFill>
                <a:srgbClr val="00B0F0"/>
              </a:solidFill>
              <a:effectLst>
                <a:outerShdw blurRad="38100" dist="38100" dir="2700000" algn="tl">
                  <a:srgbClr val="000000">
                    <a:alpha val="43137"/>
                  </a:srgbClr>
                </a:outerShdw>
              </a:effectLst>
            </a:endParaRPr>
          </a:p>
        </p:txBody>
      </p:sp>
      <p:sp>
        <p:nvSpPr>
          <p:cNvPr id="8" name="Content Placeholder 7"/>
          <p:cNvSpPr>
            <a:spLocks noGrp="1"/>
          </p:cNvSpPr>
          <p:nvPr>
            <p:ph idx="1"/>
          </p:nvPr>
        </p:nvSpPr>
        <p:spPr>
          <a:xfrm>
            <a:off x="457200" y="1207062"/>
            <a:ext cx="7543824" cy="3634740"/>
          </a:xfrm>
        </p:spPr>
        <p:txBody>
          <a:bodyPr>
            <a:normAutofit/>
          </a:bodyPr>
          <a:lstStyle/>
          <a:p>
            <a:pPr algn="just">
              <a:lnSpc>
                <a:spcPct val="150000"/>
              </a:lnSpc>
              <a:buNone/>
            </a:pPr>
            <a:r>
              <a:rPr lang="en-US" dirty="0" smtClean="0">
                <a:latin typeface="Andalus" pitchFamily="18" charset="-78"/>
                <a:cs typeface="Andalus" pitchFamily="18" charset="-78"/>
              </a:rPr>
              <a:t>Other applications:</a:t>
            </a:r>
          </a:p>
          <a:p>
            <a:pPr algn="just">
              <a:lnSpc>
                <a:spcPct val="150000"/>
              </a:lnSpc>
            </a:pPr>
            <a:r>
              <a:rPr lang="en-US" dirty="0" smtClean="0">
                <a:latin typeface="Andalus" pitchFamily="18" charset="-78"/>
                <a:cs typeface="Andalus" pitchFamily="18" charset="-78"/>
              </a:rPr>
              <a:t>Petroleum refining</a:t>
            </a:r>
          </a:p>
          <a:p>
            <a:pPr algn="just">
              <a:lnSpc>
                <a:spcPct val="150000"/>
              </a:lnSpc>
            </a:pPr>
            <a:r>
              <a:rPr lang="en-US" dirty="0" smtClean="0">
                <a:latin typeface="Andalus" pitchFamily="18" charset="-78"/>
                <a:cs typeface="Andalus" pitchFamily="18" charset="-78"/>
              </a:rPr>
              <a:t>Chemical and petrochemicals</a:t>
            </a:r>
          </a:p>
          <a:p>
            <a:pPr algn="just">
              <a:lnSpc>
                <a:spcPct val="150000"/>
              </a:lnSpc>
              <a:buNone/>
            </a:pPr>
            <a:endParaRPr lang="en-IN" dirty="0" smtClean="0">
              <a:latin typeface="Andalus" pitchFamily="18" charset="-78"/>
              <a:cs typeface="Andalus" pitchFamily="18" charset="-78"/>
            </a:endParaRPr>
          </a:p>
        </p:txBody>
      </p:sp>
      <p:sp>
        <p:nvSpPr>
          <p:cNvPr id="5" name="Footer Placeholder 6"/>
          <p:cNvSpPr>
            <a:spLocks noGrp="1"/>
          </p:cNvSpPr>
          <p:nvPr>
            <p:ph type="ftr" sz="quarter" idx="11"/>
          </p:nvPr>
        </p:nvSpPr>
        <p:spPr>
          <a:xfrm>
            <a:off x="4500562" y="4972050"/>
            <a:ext cx="3657600" cy="171450"/>
          </a:xfrm>
        </p:spPr>
        <p:txBody>
          <a:bodyPr/>
          <a:lstStyle/>
          <a:p>
            <a:r>
              <a:rPr lang="en-US" smtClean="0"/>
              <a:t>Dr Rameshkumar A/AP Chemistry</a:t>
            </a:r>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4340</TotalTime>
  <Words>572</Words>
  <Application>Microsoft Office PowerPoint</Application>
  <PresentationFormat>On-screen Show (16:9)</PresentationFormat>
  <Paragraphs>70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Opulent</vt:lpstr>
      <vt:lpstr>ENGINEERING CHEMISTRY - II</vt:lpstr>
      <vt:lpstr>positive catalysis</vt:lpstr>
      <vt:lpstr>negative catalysis</vt:lpstr>
      <vt:lpstr>autocatalysis</vt:lpstr>
      <vt:lpstr>Autocatalysis</vt:lpstr>
      <vt:lpstr>Promoter</vt:lpstr>
      <vt:lpstr>Catalytic poison</vt:lpstr>
      <vt:lpstr>Types of Catalytic Poison </vt:lpstr>
      <vt:lpstr>Acid and base catalysis</vt:lpstr>
      <vt:lpstr>Acid and base catalysis</vt:lpstr>
      <vt:lpstr>Acid and base catalysis</vt:lpstr>
      <vt:lpstr>Biological catalyst - enzymes</vt:lpstr>
      <vt:lpstr>Biological catalyst - enzymes</vt:lpstr>
      <vt:lpstr>Biological catalyst - enzymes</vt:lpstr>
      <vt:lpstr>Biological catalyst - enzymes</vt:lpstr>
      <vt:lpstr>Applications of catalysis</vt:lpstr>
      <vt:lpstr>Applications of catalysis</vt:lpstr>
      <vt:lpstr>Applications of catalysis</vt:lpstr>
      <vt:lpstr>Applications of catalysis</vt:lpstr>
      <vt:lpstr>Applications of catalysis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CHEMISTRY - I</dc:title>
  <dc:creator>trc</dc:creator>
  <cp:lastModifiedBy>Acer</cp:lastModifiedBy>
  <cp:revision>753</cp:revision>
  <dcterms:created xsi:type="dcterms:W3CDTF">2020-12-21T10:35:25Z</dcterms:created>
  <dcterms:modified xsi:type="dcterms:W3CDTF">2025-05-12T17:12:35Z</dcterms:modified>
</cp:coreProperties>
</file>