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3"/>
  </p:notesMasterIdLst>
  <p:sldIdLst>
    <p:sldId id="256" r:id="rId2"/>
    <p:sldId id="290" r:id="rId3"/>
    <p:sldId id="313" r:id="rId4"/>
    <p:sldId id="314" r:id="rId5"/>
    <p:sldId id="316" r:id="rId6"/>
    <p:sldId id="317" r:id="rId7"/>
    <p:sldId id="318" r:id="rId8"/>
    <p:sldId id="319" r:id="rId9"/>
    <p:sldId id="324" r:id="rId10"/>
    <p:sldId id="321" r:id="rId11"/>
    <p:sldId id="322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1" d="100"/>
          <a:sy n="81" d="100"/>
        </p:scale>
        <p:origin x="-972" y="-1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8032D-864A-4EB9-9DCF-4F8E0BF35B43}" type="datetimeFigureOut">
              <a:rPr lang="en-US" smtClean="0"/>
              <a:pPr/>
              <a:t>4/11/2025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AF5D2-FC72-47CA-9A01-1D2294AB6E5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81252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51435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95250" y="2571750"/>
            <a:ext cx="51435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400050"/>
            <a:ext cx="5105400" cy="2151126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2654898"/>
            <a:ext cx="5114778" cy="825936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4918459"/>
            <a:ext cx="2002464" cy="170177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F0DE94B-9ECB-4479-B6C6-6ED3999F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4918460"/>
            <a:ext cx="2927722" cy="17145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4917186"/>
            <a:ext cx="588336" cy="17145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116378"/>
            <a:ext cx="6255488" cy="1021556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428751"/>
            <a:ext cx="6255488" cy="55763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4917607"/>
            <a:ext cx="2002464" cy="170177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F0DE94B-9ECB-4479-B6C6-6ED3999F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4917608"/>
            <a:ext cx="2895600" cy="17145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4916334"/>
            <a:ext cx="588336" cy="171450"/>
          </a:xfrm>
        </p:spPr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0030"/>
            <a:ext cx="7242048" cy="85725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3520440" cy="3394472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200151"/>
            <a:ext cx="3520440" cy="3394472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0030"/>
            <a:ext cx="7242048" cy="85725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400550"/>
            <a:ext cx="3520440" cy="3429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4400550"/>
            <a:ext cx="3520440" cy="3429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283880"/>
            <a:ext cx="3520440" cy="308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283880"/>
            <a:ext cx="3520440" cy="308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0030"/>
            <a:ext cx="7242048" cy="85725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F0DE94B-9ECB-4479-B6C6-6ED3999F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5897880" cy="88011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123062"/>
            <a:ext cx="5897880" cy="451884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239000" cy="32788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9" y="753501"/>
            <a:ext cx="4319527" cy="3234430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749112"/>
            <a:ext cx="4319527" cy="3234430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857250"/>
            <a:ext cx="3429000" cy="154305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2462726"/>
            <a:ext cx="3429000" cy="144018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780752"/>
            <a:ext cx="4206240" cy="315468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DE94B-9ECB-4479-B6C6-6ED3999F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06217"/>
            <a:ext cx="1524000" cy="4388644"/>
          </a:xfrm>
        </p:spPr>
        <p:txBody>
          <a:bodyPr vert="eaVert"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2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4918459"/>
            <a:ext cx="2002464" cy="170177"/>
          </a:xfrm>
        </p:spPr>
        <p:txBody>
          <a:bodyPr/>
          <a:lstStyle/>
          <a:p>
            <a:fld id="{BF0DE94B-9ECB-4479-B6C6-6ED3999F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917186"/>
            <a:ext cx="3657600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4914900"/>
            <a:ext cx="588336" cy="1714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51435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207062"/>
            <a:ext cx="7239000" cy="36347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4918459"/>
            <a:ext cx="2002464" cy="170177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BF0DE94B-9ECB-4479-B6C6-6ED3999FA8C4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4918460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4917186"/>
            <a:ext cx="588336" cy="17145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004422E-EDD2-4B0B-A52B-28308297B27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ENGINEERING CHEMISTRY - 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4442" y="2654898"/>
            <a:ext cx="5114778" cy="1042001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sz="1600" b="1" dirty="0" smtClean="0"/>
              <a:t>22CH203</a:t>
            </a:r>
          </a:p>
          <a:p>
            <a:pPr>
              <a:lnSpc>
                <a:spcPct val="160000"/>
              </a:lnSpc>
            </a:pPr>
            <a:r>
              <a:rPr lang="en-US" sz="1600" b="1" dirty="0" smtClean="0"/>
              <a:t>Unit 4 – Lesson Plan 2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xmlns="" val="190112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Homogeneous catalysis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07062"/>
            <a:ext cx="7615262" cy="363474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When the reactants and the catalyst are in the </a:t>
            </a:r>
            <a:r>
              <a:rPr lang="en-IN" dirty="0" smtClean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same phase </a:t>
            </a:r>
            <a:r>
              <a:rPr lang="en-IN" dirty="0" smtClean="0">
                <a:latin typeface="Andalus" pitchFamily="18" charset="-78"/>
                <a:cs typeface="Andalus" pitchFamily="18" charset="-78"/>
              </a:rPr>
              <a:t>(i.e. solid, liquid or gas) it is said to be homogeneous.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>
                <a:latin typeface="Andalus" pitchFamily="18" charset="-78"/>
                <a:cs typeface="Andalus" pitchFamily="18" charset="-78"/>
              </a:rPr>
              <a:t>Example - Hydrolysis of ester</a:t>
            </a: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Andalus" pitchFamily="18" charset="-78"/>
                <a:cs typeface="Andalus" pitchFamily="18" charset="-78"/>
              </a:rPr>
              <a:t>CH</a:t>
            </a:r>
            <a:r>
              <a:rPr lang="en-IN" sz="2400" baseline="-25000" dirty="0" smtClean="0">
                <a:latin typeface="Andalus" pitchFamily="18" charset="-78"/>
                <a:cs typeface="Andalus" pitchFamily="18" charset="-78"/>
              </a:rPr>
              <a:t>3</a:t>
            </a:r>
            <a:r>
              <a:rPr lang="en-IN" sz="2400" dirty="0" smtClean="0">
                <a:latin typeface="Andalus" pitchFamily="18" charset="-78"/>
                <a:cs typeface="Andalus" pitchFamily="18" charset="-78"/>
              </a:rPr>
              <a:t>CO</a:t>
            </a:r>
            <a:r>
              <a:rPr lang="en-IN" sz="2400" baseline="-25000" dirty="0" smtClean="0">
                <a:latin typeface="Andalus" pitchFamily="18" charset="-78"/>
                <a:cs typeface="Andalus" pitchFamily="18" charset="-78"/>
              </a:rPr>
              <a:t>2</a:t>
            </a:r>
            <a:r>
              <a:rPr lang="en-IN" sz="2400" dirty="0" smtClean="0">
                <a:latin typeface="Andalus" pitchFamily="18" charset="-78"/>
                <a:cs typeface="Andalus" pitchFamily="18" charset="-78"/>
              </a:rPr>
              <a:t>CH</a:t>
            </a:r>
            <a:r>
              <a:rPr lang="en-IN" sz="2400" baseline="-25000" dirty="0" smtClean="0">
                <a:latin typeface="Andalus" pitchFamily="18" charset="-78"/>
                <a:cs typeface="Andalus" pitchFamily="18" charset="-78"/>
              </a:rPr>
              <a:t>3(l)</a:t>
            </a:r>
            <a:r>
              <a:rPr lang="en-IN" sz="2400" dirty="0" smtClean="0">
                <a:latin typeface="Andalus" pitchFamily="18" charset="-78"/>
                <a:cs typeface="Andalus" pitchFamily="18" charset="-78"/>
              </a:rPr>
              <a:t> + H</a:t>
            </a:r>
            <a:r>
              <a:rPr lang="en-IN" sz="2400" baseline="-25000" dirty="0" smtClean="0">
                <a:latin typeface="Andalus" pitchFamily="18" charset="-78"/>
                <a:cs typeface="Andalus" pitchFamily="18" charset="-78"/>
              </a:rPr>
              <a:t>2</a:t>
            </a:r>
            <a:r>
              <a:rPr lang="en-IN" sz="2400" dirty="0" smtClean="0">
                <a:latin typeface="Andalus" pitchFamily="18" charset="-78"/>
                <a:cs typeface="Andalus" pitchFamily="18" charset="-78"/>
              </a:rPr>
              <a:t>O</a:t>
            </a:r>
            <a:r>
              <a:rPr lang="en-IN" sz="2400" baseline="-25000" dirty="0" smtClean="0">
                <a:latin typeface="Andalus" pitchFamily="18" charset="-78"/>
                <a:cs typeface="Andalus" pitchFamily="18" charset="-78"/>
              </a:rPr>
              <a:t>(</a:t>
            </a:r>
            <a:r>
              <a:rPr lang="en-IN" sz="2400" baseline="-25000" dirty="0" err="1" smtClean="0">
                <a:latin typeface="Andalus" pitchFamily="18" charset="-78"/>
                <a:cs typeface="Andalus" pitchFamily="18" charset="-78"/>
              </a:rPr>
              <a:t>aq</a:t>
            </a:r>
            <a:r>
              <a:rPr lang="en-IN" sz="2400" baseline="-25000" dirty="0" smtClean="0">
                <a:latin typeface="Andalus" pitchFamily="18" charset="-78"/>
                <a:cs typeface="Andalus" pitchFamily="18" charset="-78"/>
              </a:rPr>
              <a:t>)</a:t>
            </a:r>
            <a:r>
              <a:rPr lang="en-IN" sz="2400" dirty="0" smtClean="0">
                <a:latin typeface="Andalus" pitchFamily="18" charset="-78"/>
                <a:cs typeface="Andalus" pitchFamily="18" charset="-78"/>
              </a:rPr>
              <a:t> ⇌ CH</a:t>
            </a:r>
            <a:r>
              <a:rPr lang="en-IN" sz="2400" baseline="-25000" dirty="0" smtClean="0">
                <a:latin typeface="Andalus" pitchFamily="18" charset="-78"/>
                <a:cs typeface="Andalus" pitchFamily="18" charset="-78"/>
              </a:rPr>
              <a:t>3</a:t>
            </a:r>
            <a:r>
              <a:rPr lang="en-IN" sz="2400" dirty="0" smtClean="0">
                <a:latin typeface="Andalus" pitchFamily="18" charset="-78"/>
                <a:cs typeface="Andalus" pitchFamily="18" charset="-78"/>
              </a:rPr>
              <a:t>CO</a:t>
            </a:r>
            <a:r>
              <a:rPr lang="en-IN" sz="2400" baseline="-25000" dirty="0" smtClean="0">
                <a:latin typeface="Andalus" pitchFamily="18" charset="-78"/>
                <a:cs typeface="Andalus" pitchFamily="18" charset="-78"/>
              </a:rPr>
              <a:t>2</a:t>
            </a:r>
            <a:r>
              <a:rPr lang="en-IN" sz="2400" dirty="0" smtClean="0">
                <a:latin typeface="Andalus" pitchFamily="18" charset="-78"/>
                <a:cs typeface="Andalus" pitchFamily="18" charset="-78"/>
              </a:rPr>
              <a:t>H</a:t>
            </a:r>
            <a:r>
              <a:rPr lang="en-IN" sz="2400" baseline="-25000" dirty="0" smtClean="0">
                <a:latin typeface="Andalus" pitchFamily="18" charset="-78"/>
                <a:cs typeface="Andalus" pitchFamily="18" charset="-78"/>
              </a:rPr>
              <a:t>(</a:t>
            </a:r>
            <a:r>
              <a:rPr lang="en-IN" sz="2400" baseline="-25000" dirty="0" err="1" smtClean="0">
                <a:latin typeface="Andalus" pitchFamily="18" charset="-78"/>
                <a:cs typeface="Andalus" pitchFamily="18" charset="-78"/>
              </a:rPr>
              <a:t>aq</a:t>
            </a:r>
            <a:r>
              <a:rPr lang="en-IN" sz="2400" baseline="-25000" dirty="0" smtClean="0">
                <a:latin typeface="Andalus" pitchFamily="18" charset="-78"/>
                <a:cs typeface="Andalus" pitchFamily="18" charset="-78"/>
              </a:rPr>
              <a:t>)</a:t>
            </a:r>
            <a:r>
              <a:rPr lang="en-IN" sz="2400" dirty="0" smtClean="0">
                <a:latin typeface="Andalus" pitchFamily="18" charset="-78"/>
                <a:cs typeface="Andalus" pitchFamily="18" charset="-78"/>
              </a:rPr>
              <a:t> + CH</a:t>
            </a:r>
            <a:r>
              <a:rPr lang="en-IN" sz="2400" baseline="-25000" dirty="0" smtClean="0">
                <a:latin typeface="Andalus" pitchFamily="18" charset="-78"/>
                <a:cs typeface="Andalus" pitchFamily="18" charset="-78"/>
              </a:rPr>
              <a:t>3</a:t>
            </a:r>
            <a:r>
              <a:rPr lang="en-IN" sz="2400" dirty="0" smtClean="0">
                <a:latin typeface="Andalus" pitchFamily="18" charset="-78"/>
                <a:cs typeface="Andalus" pitchFamily="18" charset="-78"/>
              </a:rPr>
              <a:t>OH</a:t>
            </a:r>
            <a:r>
              <a:rPr lang="en-IN" sz="2400" baseline="-25000" dirty="0" smtClean="0">
                <a:latin typeface="Andalus" pitchFamily="18" charset="-78"/>
                <a:cs typeface="Andalus" pitchFamily="18" charset="-78"/>
              </a:rPr>
              <a:t>(</a:t>
            </a:r>
            <a:r>
              <a:rPr lang="en-IN" sz="2400" baseline="-25000" dirty="0" err="1" smtClean="0">
                <a:latin typeface="Andalus" pitchFamily="18" charset="-78"/>
                <a:cs typeface="Andalus" pitchFamily="18" charset="-78"/>
              </a:rPr>
              <a:t>aq</a:t>
            </a:r>
            <a:r>
              <a:rPr lang="en-IN" sz="2400" baseline="-25000" dirty="0" smtClean="0">
                <a:latin typeface="Andalus" pitchFamily="18" charset="-78"/>
                <a:cs typeface="Andalus" pitchFamily="18" charset="-78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Andalus" pitchFamily="18" charset="-78"/>
                <a:cs typeface="Andalus" pitchFamily="18" charset="-78"/>
              </a:rPr>
              <a:t>All the reactants and the products are in liquid phase</a:t>
            </a:r>
            <a:endParaRPr lang="en-IN" sz="2800" dirty="0" smtClean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5800" y="4972050"/>
            <a:ext cx="3657600" cy="171450"/>
          </a:xfrm>
        </p:spPr>
        <p:txBody>
          <a:bodyPr/>
          <a:lstStyle/>
          <a:p>
            <a:r>
              <a:rPr lang="en-US" smtClean="0"/>
              <a:t>Dr Rameshkumar A/AP Chemistry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00430" y="3519080"/>
            <a:ext cx="500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</a:t>
            </a:r>
            <a:r>
              <a:rPr lang="en-US" sz="1600" baseline="30000" dirty="0" smtClean="0"/>
              <a:t>+</a:t>
            </a:r>
            <a:endParaRPr lang="en-IN" sz="1600" baseline="30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Homogeneous catalysis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07062"/>
            <a:ext cx="7615262" cy="363474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 The number of collisions between reactants and catalyst is at a maximum because the catalyst is uniformly dispersed throughout the reaction mixture.</a:t>
            </a:r>
          </a:p>
          <a:p>
            <a:pPr algn="just">
              <a:lnSpc>
                <a:spcPct val="150000"/>
              </a:lnSpc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Many homogeneous catalysts in industry are </a:t>
            </a:r>
            <a:r>
              <a:rPr lang="en-IN" dirty="0" smtClean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transition metal compounds</a:t>
            </a:r>
            <a:r>
              <a:rPr lang="en-IN" dirty="0" smtClean="0">
                <a:latin typeface="Andalus" pitchFamily="18" charset="-78"/>
                <a:cs typeface="Andalus" pitchFamily="18" charset="-78"/>
              </a:rPr>
              <a:t>, but recovering these expensive catalysts from solution has been a major challenge. </a:t>
            </a:r>
          </a:p>
          <a:p>
            <a:pPr algn="just">
              <a:lnSpc>
                <a:spcPct val="150000"/>
              </a:lnSpc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Many homogeneous catalysts </a:t>
            </a:r>
            <a:r>
              <a:rPr lang="en-IN" dirty="0" smtClean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can be used only at relatively low temperatures</a:t>
            </a:r>
            <a:r>
              <a:rPr lang="en-IN" dirty="0" smtClean="0">
                <a:latin typeface="Andalus" pitchFamily="18" charset="-78"/>
                <a:cs typeface="Andalus" pitchFamily="18" charset="-78"/>
              </a:rPr>
              <a:t>, and even then they tend to decompose slowly in solution.</a:t>
            </a:r>
          </a:p>
          <a:p>
            <a:pPr algn="just">
              <a:lnSpc>
                <a:spcPct val="150000"/>
              </a:lnSpc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High-density polyethylene and polypropylene are produced by homogeneous catalysis.</a:t>
            </a:r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5800" y="4972050"/>
            <a:ext cx="3657600" cy="171450"/>
          </a:xfrm>
        </p:spPr>
        <p:txBody>
          <a:bodyPr/>
          <a:lstStyle/>
          <a:p>
            <a:r>
              <a:rPr lang="en-US" smtClean="0"/>
              <a:t>Dr Rameshkumar A/AP Chemistry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Homogeneous catalysis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07062"/>
            <a:ext cx="7615262" cy="36347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400" dirty="0" smtClean="0">
                <a:latin typeface="Andalus" pitchFamily="18" charset="-78"/>
                <a:cs typeface="Andalus" pitchFamily="18" charset="-78"/>
              </a:rPr>
              <a:t>Examples: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Depletion of ozone by chlorine free radicals (all in gas)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Chlorine free radical is from chlorofluorohydrocarbons (CFC)</a:t>
            </a:r>
            <a:endParaRPr lang="en-IN" sz="2400" dirty="0" smtClean="0">
              <a:latin typeface="Andalus" pitchFamily="18" charset="-78"/>
              <a:cs typeface="Andalus" pitchFamily="18" charset="-78"/>
            </a:endParaRPr>
          </a:p>
          <a:p>
            <a:pPr algn="just">
              <a:lnSpc>
                <a:spcPct val="150000"/>
              </a:lnSpc>
            </a:pPr>
            <a:endParaRPr lang="en-IN" sz="2400" dirty="0" smtClean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5800" y="4972050"/>
            <a:ext cx="3657600" cy="171450"/>
          </a:xfrm>
        </p:spPr>
        <p:txBody>
          <a:bodyPr/>
          <a:lstStyle/>
          <a:p>
            <a:r>
              <a:rPr lang="en-US" smtClean="0"/>
              <a:t>Dr Rameshkumar A/AP Chemistry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3214692"/>
            <a:ext cx="4029352" cy="819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5984" y="4071948"/>
            <a:ext cx="4500594" cy="633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Homogeneous catalysis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07062"/>
            <a:ext cx="7615262" cy="363474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Advantages: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Since the reactants and catalyst are in the same phase, the reactions see a 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higher rate of catalytic activity </a:t>
            </a:r>
            <a:r>
              <a:rPr lang="en-IN" dirty="0" smtClean="0">
                <a:latin typeface="Andalus" pitchFamily="18" charset="-78"/>
                <a:cs typeface="Andalus" pitchFamily="18" charset="-78"/>
              </a:rPr>
              <a:t>with more interaction of the catalyst by the reactants.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These reactions have a 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higher selectivity </a:t>
            </a:r>
            <a:r>
              <a:rPr lang="en-IN" dirty="0" smtClean="0">
                <a:latin typeface="Andalus" pitchFamily="18" charset="-78"/>
                <a:cs typeface="Andalus" pitchFamily="18" charset="-78"/>
              </a:rPr>
              <a:t>in terms of which reactions they catalyse.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These reactions use milder conditions of reaction as compared to usual. </a:t>
            </a:r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5800" y="4972050"/>
            <a:ext cx="3657600" cy="171450"/>
          </a:xfrm>
        </p:spPr>
        <p:txBody>
          <a:bodyPr/>
          <a:lstStyle/>
          <a:p>
            <a:r>
              <a:rPr lang="en-US" smtClean="0"/>
              <a:t>Dr Rameshkumar A/AP Chemistry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Homogeneous catalysis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07062"/>
            <a:ext cx="7615262" cy="363474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Advantages: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Homogeneous catalysts are precisely and 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easily characterized via spectroscopic methods</a:t>
            </a:r>
            <a:r>
              <a:rPr lang="en-IN" dirty="0" smtClean="0">
                <a:latin typeface="Andalus" pitchFamily="18" charset="-78"/>
                <a:cs typeface="Andalus" pitchFamily="18" charset="-78"/>
              </a:rPr>
              <a:t> rather than heterogeneous catalysts in which the reaction takes place with reactants adsorbed on the catalyst surface.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For exothermic reactions, the homogeneous catalyst passes 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the heat produced in the reaction into the solvent</a:t>
            </a:r>
            <a:r>
              <a:rPr lang="en-IN" dirty="0" smtClean="0">
                <a:latin typeface="Andalus" pitchFamily="18" charset="-78"/>
                <a:cs typeface="Andalus" pitchFamily="18" charset="-78"/>
              </a:rPr>
              <a:t> i.e., dump heat into the solvent.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Homogeneous catalysts are easier to characterize precisely, so their reaction mechanisms are widely acceptable. </a:t>
            </a:r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5800" y="4972050"/>
            <a:ext cx="3657600" cy="171450"/>
          </a:xfrm>
        </p:spPr>
        <p:txBody>
          <a:bodyPr/>
          <a:lstStyle/>
          <a:p>
            <a:r>
              <a:rPr lang="en-US" smtClean="0"/>
              <a:t>Dr Rameshkumar A/AP Chemistry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Homogeneous catalysis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07062"/>
            <a:ext cx="7615262" cy="3634740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Disadvantages: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The catalyst, being in the same phase as the reactants, is 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difficult to isolate from the product at the end of the reaction</a:t>
            </a:r>
            <a:r>
              <a:rPr lang="en-IN" dirty="0" smtClean="0">
                <a:latin typeface="Andalus" pitchFamily="18" charset="-78"/>
                <a:cs typeface="Andalus" pitchFamily="18" charset="-78"/>
              </a:rPr>
              <a:t>.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There is a limitation associated with homogeneous catalysis in terms of thermal stability. Many homogeneous catalysts are </a:t>
            </a:r>
            <a:r>
              <a:rPr lang="en-IN" dirty="0" err="1" smtClean="0">
                <a:latin typeface="Andalus" pitchFamily="18" charset="-78"/>
                <a:cs typeface="Andalus" pitchFamily="18" charset="-78"/>
              </a:rPr>
              <a:t>organometallic</a:t>
            </a:r>
            <a:r>
              <a:rPr lang="en-IN" dirty="0" smtClean="0">
                <a:latin typeface="Andalus" pitchFamily="18" charset="-78"/>
                <a:cs typeface="Andalus" pitchFamily="18" charset="-78"/>
              </a:rPr>
              <a:t> compounds with a 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higher chance of getting degraded at temperatures</a:t>
            </a:r>
            <a:r>
              <a:rPr lang="en-IN" dirty="0" smtClean="0">
                <a:latin typeface="Andalus" pitchFamily="18" charset="-78"/>
                <a:cs typeface="Andalus" pitchFamily="18" charset="-78"/>
              </a:rPr>
              <a:t> above 100</a:t>
            </a:r>
            <a:r>
              <a:rPr lang="en-IN" baseline="30000" dirty="0" smtClean="0">
                <a:latin typeface="Andalus" pitchFamily="18" charset="-78"/>
                <a:cs typeface="Andalus" pitchFamily="18" charset="-78"/>
              </a:rPr>
              <a:t>o</a:t>
            </a:r>
            <a:r>
              <a:rPr lang="en-IN" dirty="0" smtClean="0">
                <a:latin typeface="Andalus" pitchFamily="18" charset="-78"/>
                <a:cs typeface="Andalus" pitchFamily="18" charset="-78"/>
              </a:rPr>
              <a:t>C.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	After recognizing the limitations of the homogeneous catalytic reaction, there has been an attempt to synthesize a </a:t>
            </a:r>
            <a:r>
              <a:rPr lang="en-IN" dirty="0" err="1" smtClean="0">
                <a:latin typeface="Andalus" pitchFamily="18" charset="-78"/>
                <a:cs typeface="Andalus" pitchFamily="18" charset="-78"/>
              </a:rPr>
              <a:t>heterogenized</a:t>
            </a:r>
            <a:r>
              <a:rPr lang="en-IN" dirty="0" smtClean="0">
                <a:latin typeface="Andalus" pitchFamily="18" charset="-78"/>
                <a:cs typeface="Andalus" pitchFamily="18" charset="-78"/>
              </a:rPr>
              <a:t> homogeneous catalyst, which combines the advantage of homogeneous catalysts of good activity and selectivity with heterogeneous catalysts’ ability to regenerate the catalyst back after the reaction. </a:t>
            </a:r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5800" y="4972050"/>
            <a:ext cx="3657600" cy="171450"/>
          </a:xfrm>
        </p:spPr>
        <p:txBody>
          <a:bodyPr/>
          <a:lstStyle/>
          <a:p>
            <a:r>
              <a:rPr lang="en-US" smtClean="0"/>
              <a:t>Dr Rameshkumar A/AP Chemistry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Heterogeneous catalysis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07062"/>
            <a:ext cx="7615262" cy="36347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 smtClean="0">
                <a:latin typeface="Andalus" pitchFamily="18" charset="-78"/>
                <a:cs typeface="Andalus" pitchFamily="18" charset="-78"/>
              </a:rPr>
              <a:t>The catalytic process in which the reactants and the catalyst are </a:t>
            </a:r>
            <a:r>
              <a:rPr lang="en-I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in different phases </a:t>
            </a:r>
            <a:r>
              <a:rPr lang="en-IN" dirty="0" smtClean="0">
                <a:latin typeface="Andalus" pitchFamily="18" charset="-78"/>
                <a:cs typeface="Andalus" pitchFamily="18" charset="-78"/>
              </a:rPr>
              <a:t>is known as heterogeneous catalysis. 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Andalus" pitchFamily="18" charset="-78"/>
                <a:cs typeface="Andalus" pitchFamily="18" charset="-78"/>
              </a:rPr>
              <a:t>Example – reactants and products in gas phase while catalyst in solid phase.</a:t>
            </a:r>
            <a:endParaRPr lang="en-IN" dirty="0" smtClean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5800" y="4972050"/>
            <a:ext cx="3657600" cy="171450"/>
          </a:xfrm>
        </p:spPr>
        <p:txBody>
          <a:bodyPr/>
          <a:lstStyle/>
          <a:p>
            <a:r>
              <a:rPr lang="en-US" smtClean="0"/>
              <a:t>Dr Rameshkumar A/AP Chemistry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214428"/>
            <a:ext cx="7319880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Heterogeneous catalysis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5800" y="4972050"/>
            <a:ext cx="3657600" cy="171450"/>
          </a:xfrm>
        </p:spPr>
        <p:txBody>
          <a:bodyPr/>
          <a:lstStyle/>
          <a:p>
            <a:r>
              <a:rPr lang="en-US" smtClean="0"/>
              <a:t>Dr Rameshkumar A/AP Chemistry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85786" y="3429006"/>
            <a:ext cx="1785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desorption</a:t>
            </a:r>
            <a:endParaRPr lang="en-IN" sz="1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Heterogeneous catalysis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07062"/>
            <a:ext cx="7615262" cy="36347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Mechanism – Reaction of ethylene with hydrogen on nickel surface.</a:t>
            </a:r>
            <a:endParaRPr lang="en-IN" sz="2400" dirty="0" smtClean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5800" y="4972050"/>
            <a:ext cx="3657600" cy="171450"/>
          </a:xfrm>
        </p:spPr>
        <p:txBody>
          <a:bodyPr/>
          <a:lstStyle/>
          <a:p>
            <a:r>
              <a:rPr lang="en-US" smtClean="0"/>
              <a:t>Dr Rameshkumar A/AP Chemistry</a:t>
            </a:r>
            <a:endParaRPr lang="en-US"/>
          </a:p>
        </p:txBody>
      </p:sp>
      <p:pic>
        <p:nvPicPr>
          <p:cNvPr id="2050" name="Picture 2" descr="3.8: Day 25- Homogeneous and Heterogeneous Catalysis - Chemistry LibreText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2285998"/>
            <a:ext cx="5857916" cy="26978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Heterogeneous catalysis</a:t>
            </a:r>
            <a:endParaRPr lang="en-IN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07062"/>
            <a:ext cx="7615262" cy="36347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Examples: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Conversion of ethylene to ethane</a:t>
            </a:r>
          </a:p>
          <a:p>
            <a:pPr algn="just">
              <a:lnSpc>
                <a:spcPct val="150000"/>
              </a:lnSpc>
            </a:pPr>
            <a:endParaRPr lang="en-IN" sz="2400" dirty="0" smtClean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5800" y="4972050"/>
            <a:ext cx="3657600" cy="171450"/>
          </a:xfrm>
        </p:spPr>
        <p:txBody>
          <a:bodyPr/>
          <a:lstStyle/>
          <a:p>
            <a:r>
              <a:rPr lang="en-US" smtClean="0"/>
              <a:t>Dr Rameshkumar A/AP Chemistry</a:t>
            </a:r>
            <a:endParaRPr lang="en-US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2428874"/>
            <a:ext cx="6669389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4250</TotalTime>
  <Words>452</Words>
  <Application>Microsoft Office PowerPoint</Application>
  <PresentationFormat>On-screen Show (16:9)</PresentationFormat>
  <Paragraphs>53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Opulent</vt:lpstr>
      <vt:lpstr>ENGINEERING CHEMISTRY - II</vt:lpstr>
      <vt:lpstr>Homogeneous catalysis</vt:lpstr>
      <vt:lpstr>Homogeneous catalysis</vt:lpstr>
      <vt:lpstr>Homogeneous catalysis</vt:lpstr>
      <vt:lpstr>Homogeneous catalysis</vt:lpstr>
      <vt:lpstr>Homogeneous catalysis</vt:lpstr>
      <vt:lpstr>Homogeneous catalysis</vt:lpstr>
      <vt:lpstr>Heterogeneous catalysis</vt:lpstr>
      <vt:lpstr>Heterogeneous catalysis</vt:lpstr>
      <vt:lpstr>Heterogeneous catalysis</vt:lpstr>
      <vt:lpstr>Heterogeneous catalysis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CHEMISTRY - I</dc:title>
  <dc:creator>trc</dc:creator>
  <cp:lastModifiedBy>Acer</cp:lastModifiedBy>
  <cp:revision>716</cp:revision>
  <dcterms:created xsi:type="dcterms:W3CDTF">2020-12-21T10:35:25Z</dcterms:created>
  <dcterms:modified xsi:type="dcterms:W3CDTF">2025-04-11T01:00:54Z</dcterms:modified>
</cp:coreProperties>
</file>